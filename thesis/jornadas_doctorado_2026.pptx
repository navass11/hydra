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5" r:id="rId9"/>
  </p:sldMasterIdLst>
  <p:handoutMasterIdLst>
    <p:handoutMasterId r:id="rId17"/>
  </p:handoutMasterIdLst>
  <p:sldIdLst>
    <p:sldId id="256" r:id="rId10"/>
    <p:sldId id="257" r:id="rId11"/>
    <p:sldId id="260" r:id="rId12"/>
    <p:sldId id="258" r:id="rId13"/>
    <p:sldId id="265" r:id="rId14"/>
    <p:sldId id="259" r:id="rId15"/>
    <p:sldId id="26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2C48"/>
    <a:srgbClr val="000066"/>
    <a:srgbClr val="001366"/>
    <a:srgbClr val="000F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27" d="100"/>
          <a:sy n="127" d="100"/>
        </p:scale>
        <p:origin x="208" y="200"/>
      </p:cViewPr>
      <p:guideLst>
        <p:guide orient="horz" pos="2160"/>
        <p:guide pos="3840"/>
      </p:guideLst>
    </p:cSldViewPr>
  </p:slideViewPr>
  <p:notesTextViewPr>
    <p:cViewPr>
      <p:scale>
        <a:sx n="1" d="1"/>
        <a:sy n="1" d="1"/>
      </p:scale>
      <p:origin x="0" y="0"/>
    </p:cViewPr>
  </p:notesTextViewPr>
  <p:notesViewPr>
    <p:cSldViewPr snapToGrid="0" showGuides="1">
      <p:cViewPr varScale="1">
        <p:scale>
          <a:sx n="86" d="100"/>
          <a:sy n="86" d="100"/>
        </p:scale>
        <p:origin x="2244" y="78"/>
      </p:cViewPr>
      <p:guideLst/>
    </p:cSldViewPr>
  </p:notesViewPr>
  <p:gridSpacing cx="72008" cy="72008"/>
</p:viewPr>
</file>

<file path=ppt/_rels/presentation.xml.rels><?xml version="1.0" encoding="UTF-8"?><Relationships xmlns="http://schemas.openxmlformats.org/package/2006/relationships"><Relationship Id="rId8" Type="http://schemas.openxmlformats.org/officeDocument/2006/relationships/customXml" Target="../customXml/item8.xml"/><Relationship Id="rId13" Type="http://schemas.openxmlformats.org/officeDocument/2006/relationships/slide" Target="slides/slide4.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customXml" Target="../customXml/item7.xml"/><Relationship Id="rId12" Type="http://schemas.openxmlformats.org/officeDocument/2006/relationships/slide" Target="slides/slide3.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2.xml"/><Relationship Id="rId5" Type="http://schemas.openxmlformats.org/officeDocument/2006/relationships/customXml" Target="../customXml/item5.xml"/><Relationship Id="rId15" Type="http://schemas.openxmlformats.org/officeDocument/2006/relationships/slide" Target="slides/slide6.xml"/><Relationship Id="rId10" Type="http://schemas.openxmlformats.org/officeDocument/2006/relationships/slide" Target="slides/slide1.xml"/><Relationship Id="rId19"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Master" Target="slideMasters/slideMaster1.xml"/><Relationship Id="rId14" Type="http://schemas.openxmlformats.org/officeDocument/2006/relationships/slide" Target="slides/slide5.xml"/></Relationships>
</file>

<file path=ppt/handoutMasters/_rels/handoutMaster1.xml.rels><?xml version="1.0" encoding="UTF-8"?><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01B416-5C64-48E0-B962-B97A366AF6EA}" type="datetimeFigureOut">
              <a:rPr lang="es-ES" smtClean="0"/>
              <a:t>22/6/26</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4228C69-D98E-45A7-B00D-CE7C92BD8584}" type="slidenum">
              <a:rPr lang="es-ES" smtClean="0"/>
              <a:t>‹Nº›</a:t>
            </a:fld>
            <a:endParaRPr lang="es-ES"/>
          </a:p>
        </p:txBody>
      </p:sp>
    </p:spTree>
    <p:extLst>
      <p:ext uri="{BB962C8B-B14F-4D97-AF65-F5344CB8AC3E}">
        <p14:creationId xmlns:p14="http://schemas.microsoft.com/office/powerpoint/2010/main" val="1501777508"/>
      </p:ext>
    </p:extLst>
  </p:cSld>
  <p:clrMap bg1="lt1" tx1="dk1" bg2="lt2" tx2="dk2" accent1="accent1" accent2="accent2" accent3="accent3" accent4="accent4" accent5="accent5" accent6="accent6" hlink="hlink" folHlink="folHlink"/>
</p:handoutMaster>
</file>

<file path=ppt/slideLayouts/_rels/slideLayout1.xml.rels><?xml version="1.0" encoding="UTF-8"?><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Layouts/_rels/slideLayout2.xml.rels><?xml version="1.0" encoding="UTF-8"?><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H2O">
    <p:spTree>
      <p:nvGrpSpPr>
        <p:cNvPr id="1" name=""/>
        <p:cNvGrpSpPr/>
        <p:nvPr/>
      </p:nvGrpSpPr>
      <p:grpSpPr>
        <a:xfrm>
          <a:off x="0" y="0"/>
          <a:ext cx="0" cy="0"/>
          <a:chOff x="0" y="0"/>
          <a:chExt cx="0" cy="0"/>
        </a:xfrm>
      </p:grpSpPr>
      <p:pic>
        <p:nvPicPr>
          <p:cNvPr id="12" name="Imagen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386" y="189045"/>
            <a:ext cx="1986847" cy="669298"/>
          </a:xfrm>
          <a:prstGeom prst="rect">
            <a:avLst/>
          </a:prstGeom>
        </p:spPr>
      </p:pic>
      <p:pic>
        <p:nvPicPr>
          <p:cNvPr id="14" name="Imagen 13">
            <a:extLst>
              <a:ext uri="{FF2B5EF4-FFF2-40B4-BE49-F238E27FC236}">
                <a16:creationId xmlns:a16="http://schemas.microsoft.com/office/drawing/2014/main" id="{DDD91B90-0ED8-72F6-CB14-CE24BBAA91E0}"/>
              </a:ext>
            </a:extLst>
          </p:cNvPr>
          <p:cNvPicPr>
            <a:picLocks noChangeAspect="1"/>
          </p:cNvPicPr>
          <p:nvPr userDrawn="1"/>
        </p:nvPicPr>
        <p:blipFill>
          <a:blip r:embed="rId3"/>
          <a:srcRect l="17701" t="19874" r="18004" b="23279"/>
          <a:stretch/>
        </p:blipFill>
        <p:spPr>
          <a:xfrm>
            <a:off x="4369397" y="307712"/>
            <a:ext cx="3453205" cy="720000"/>
          </a:xfrm>
          <a:prstGeom prst="rect">
            <a:avLst/>
          </a:prstGeom>
        </p:spPr>
      </p:pic>
      <p:pic>
        <p:nvPicPr>
          <p:cNvPr id="15" name="Imagen 14">
            <a:extLst>
              <a:ext uri="{FF2B5EF4-FFF2-40B4-BE49-F238E27FC236}">
                <a16:creationId xmlns:a16="http://schemas.microsoft.com/office/drawing/2014/main" id="{D85B52C0-AFCE-8D7F-0EA6-54E5D242505D}"/>
              </a:ext>
            </a:extLst>
          </p:cNvPr>
          <p:cNvPicPr/>
          <p:nvPr userDrawn="1"/>
        </p:nvPicPr>
        <p:blipFill>
          <a:blip r:embed="rId4" cstate="print">
            <a:extLst>
              <a:ext uri="{28A0092B-C50C-407E-A947-70E740481C1C}">
                <a14:useLocalDpi xmlns:a14="http://schemas.microsoft.com/office/drawing/2010/main" val="0"/>
              </a:ext>
            </a:extLst>
          </a:blip>
          <a:stretch>
            <a:fillRect/>
          </a:stretch>
        </p:blipFill>
        <p:spPr>
          <a:xfrm>
            <a:off x="513606" y="288894"/>
            <a:ext cx="1985645" cy="882650"/>
          </a:xfrm>
          <a:prstGeom prst="rect">
            <a:avLst/>
          </a:prstGeom>
          <a:noFill/>
        </p:spPr>
      </p:pic>
      <p:pic>
        <p:nvPicPr>
          <p:cNvPr id="16" name="Imagen 15">
            <a:extLst>
              <a:ext uri="{FF2B5EF4-FFF2-40B4-BE49-F238E27FC236}">
                <a16:creationId xmlns:a16="http://schemas.microsoft.com/office/drawing/2014/main" id="{2A5AE62D-7FD7-65B3-E4EE-00C751235E48}"/>
              </a:ext>
            </a:extLst>
          </p:cNvPr>
          <p:cNvPicPr>
            <a:picLocks noChangeAspect="1"/>
          </p:cNvPicPr>
          <p:nvPr userDrawn="1"/>
        </p:nvPicPr>
        <p:blipFill>
          <a:blip r:embed="rId5">
            <a:extLst>
              <a:ext uri="{28A0092B-C50C-407E-A947-70E740481C1C}">
                <a14:useLocalDpi xmlns:a14="http://schemas.microsoft.com/office/drawing/2010/main" val="0"/>
              </a:ext>
            </a:extLst>
          </a:blip>
          <a:srcRect l="3092" t="31989" r="3356" b="30757"/>
          <a:stretch>
            <a:fillRect/>
          </a:stretch>
        </p:blipFill>
        <p:spPr>
          <a:xfrm>
            <a:off x="8791712" y="442187"/>
            <a:ext cx="2858107" cy="432000"/>
          </a:xfrm>
          <a:prstGeom prst="rect">
            <a:avLst/>
          </a:prstGeom>
        </p:spPr>
      </p:pic>
      <p:pic>
        <p:nvPicPr>
          <p:cNvPr id="17" name="Imagen 16">
            <a:extLst>
              <a:ext uri="{FF2B5EF4-FFF2-40B4-BE49-F238E27FC236}">
                <a16:creationId xmlns:a16="http://schemas.microsoft.com/office/drawing/2014/main" id="{EC3E4E23-70ED-E9A7-53C6-68A8135C1C86}"/>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220765" y="6038952"/>
            <a:ext cx="627900" cy="639422"/>
          </a:xfrm>
          <a:prstGeom prst="rect">
            <a:avLst/>
          </a:prstGeom>
        </p:spPr>
      </p:pic>
      <p:pic>
        <p:nvPicPr>
          <p:cNvPr id="18" name="Imagen 17">
            <a:extLst>
              <a:ext uri="{FF2B5EF4-FFF2-40B4-BE49-F238E27FC236}">
                <a16:creationId xmlns:a16="http://schemas.microsoft.com/office/drawing/2014/main" id="{B15A07E3-FD99-753E-30DA-A6435F0A838C}"/>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0914541" y="5995560"/>
            <a:ext cx="994863" cy="639422"/>
          </a:xfrm>
          <a:prstGeom prst="rect">
            <a:avLst/>
          </a:prstGeom>
        </p:spPr>
      </p:pic>
    </p:spTree>
    <p:extLst>
      <p:ext uri="{BB962C8B-B14F-4D97-AF65-F5344CB8AC3E}">
        <p14:creationId xmlns:p14="http://schemas.microsoft.com/office/powerpoint/2010/main" val="38553191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h2ointerior3">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D2768628-E763-2D02-5C91-2FEDA63DC6F4}"/>
              </a:ext>
            </a:extLst>
          </p:cNvPr>
          <p:cNvPicPr/>
          <p:nvPr userDrawn="1"/>
        </p:nvPicPr>
        <p:blipFill>
          <a:blip r:embed="rId2" cstate="print">
            <a:extLst>
              <a:ext uri="{28A0092B-C50C-407E-A947-70E740481C1C}">
                <a14:useLocalDpi xmlns:a14="http://schemas.microsoft.com/office/drawing/2010/main" val="0"/>
              </a:ext>
            </a:extLst>
          </a:blip>
          <a:stretch>
            <a:fillRect/>
          </a:stretch>
        </p:blipFill>
        <p:spPr>
          <a:xfrm>
            <a:off x="186347" y="154144"/>
            <a:ext cx="1985645" cy="882650"/>
          </a:xfrm>
          <a:prstGeom prst="rect">
            <a:avLst/>
          </a:prstGeom>
          <a:noFill/>
        </p:spPr>
      </p:pic>
    </p:spTree>
    <p:extLst>
      <p:ext uri="{BB962C8B-B14F-4D97-AF65-F5344CB8AC3E}">
        <p14:creationId xmlns:p14="http://schemas.microsoft.com/office/powerpoint/2010/main" val="637403731"/>
      </p:ext>
    </p:extLst>
  </p:cSld>
  <p:clrMapOvr>
    <a:masterClrMapping/>
  </p:clrMapOvr>
</p:sldLayout>
</file>

<file path=ppt/slideMasters/_rels/slideMaster1.xml.rels><?xml version="1.0" encoding="UTF-8"?><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2908808"/>
      </p:ext>
    </p:extLst>
  </p:cSld>
  <p:clrMap bg1="lt1" tx1="dk1" bg2="lt2" tx2="dk2" accent1="accent1" accent2="accent2" accent3="accent3" accent4="accent4" accent5="accent5" accent6="accent6" hlink="hlink" folHlink="folHlink"/>
  <p:sldLayoutIdLst>
    <p:sldLayoutId id="2147483667" r:id="rId1"/>
    <p:sldLayoutId id="2147483668"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ítulo 2">
            <a:extLst>
              <a:ext uri="{FF2B5EF4-FFF2-40B4-BE49-F238E27FC236}">
                <a16:creationId xmlns:a16="http://schemas.microsoft.com/office/drawing/2014/main" id="{C9F2F2EC-B9F3-6EA2-0729-AF8ACC2F25D9}"/>
              </a:ext>
            </a:extLst>
          </p:cNvPr>
          <p:cNvSpPr txBox="1">
            <a:spLocks/>
          </p:cNvSpPr>
          <p:nvPr/>
        </p:nvSpPr>
        <p:spPr>
          <a:xfrm>
            <a:off x="1057275" y="1781603"/>
            <a:ext cx="10083629" cy="41608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2800" b="1" dirty="0">
                <a:solidFill>
                  <a:schemeClr val="accent1">
                    <a:lumMod val="50000"/>
                  </a:schemeClr>
                </a:solidFill>
                <a:latin typeface="Arial" panose="020B0604020202020204" pitchFamily="34" charset="0"/>
              </a:rPr>
              <a:t>INFORMACIÓN PERSONAL</a:t>
            </a:r>
          </a:p>
          <a:p>
            <a:pPr lvl="1"/>
            <a:r>
              <a:rPr lang="es-ES" sz="2200" b="1" dirty="0">
                <a:latin typeface="Arial" panose="020B0604020202020204" pitchFamily="34" charset="0"/>
              </a:rPr>
              <a:t xml:space="preserve">Alumno: </a:t>
            </a:r>
            <a:r>
              <a:rPr lang="es-ES" sz="2200" b="0" dirty="0">
                <a:latin typeface="Arial" panose="020B0604020202020204" pitchFamily="34" charset="0"/>
              </a:rPr>
              <a:t>Salvador Navas Fernández</a:t>
            </a:r>
          </a:p>
          <a:p>
            <a:pPr lvl="1"/>
            <a:r>
              <a:rPr lang="es-ES" sz="2200" b="1" dirty="0">
                <a:latin typeface="Arial" panose="020B0604020202020204" pitchFamily="34" charset="0"/>
              </a:rPr>
              <a:t xml:space="preserve">Título de tesis: </a:t>
            </a:r>
            <a:r>
              <a:rPr lang="es-ES" sz="2200" b="0" dirty="0">
                <a:latin typeface="Arial" panose="020B0604020202020204" pitchFamily="34" charset="0"/>
              </a:rPr>
              <a:t>Desarrollo de un modelo automático de inundación estocástica</a:t>
            </a:r>
          </a:p>
          <a:p>
            <a:pPr lvl="1"/>
            <a:r>
              <a:rPr lang="es-ES" sz="2200" b="1" dirty="0">
                <a:latin typeface="Arial" panose="020B0604020202020204" pitchFamily="34" charset="0"/>
              </a:rPr>
              <a:t xml:space="preserve">Tutor: </a:t>
            </a:r>
            <a:r>
              <a:rPr lang="es-ES" sz="2200" b="0" dirty="0">
                <a:latin typeface="Arial" panose="020B0604020202020204" pitchFamily="34" charset="0"/>
              </a:rPr>
              <a:t>César Álvarez Díaz</a:t>
            </a:r>
          </a:p>
          <a:p>
            <a:pPr lvl="1"/>
            <a:r>
              <a:rPr lang="es-ES" sz="2200" b="1" dirty="0">
                <a:latin typeface="Arial" panose="020B0604020202020204" pitchFamily="34" charset="0"/>
              </a:rPr>
              <a:t xml:space="preserve">Director: </a:t>
            </a:r>
            <a:r>
              <a:rPr lang="es-ES" sz="2200" b="0" dirty="0">
                <a:latin typeface="Arial" panose="020B0604020202020204" pitchFamily="34" charset="0"/>
              </a:rPr>
              <a:t>Manuel del Jesús Peñil</a:t>
            </a:r>
          </a:p>
          <a:p>
            <a:pPr lvl="1"/>
            <a:r>
              <a:rPr lang="es-ES" sz="2200" b="1" dirty="0">
                <a:latin typeface="Arial" panose="020B0604020202020204" pitchFamily="34" charset="0"/>
              </a:rPr>
              <a:t xml:space="preserve">Fecha admisión al programa: </a:t>
            </a:r>
            <a:r>
              <a:rPr lang="es-ES" sz="2200" b="0" dirty="0">
                <a:latin typeface="Arial" panose="020B0604020202020204" pitchFamily="34" charset="0"/>
              </a:rPr>
              <a:t>Diciembre 2023</a:t>
            </a:r>
          </a:p>
          <a:p>
            <a:pPr lvl="1"/>
            <a:r>
              <a:rPr lang="es-ES" sz="2200" b="1" dirty="0">
                <a:latin typeface="Arial" panose="020B0604020202020204" pitchFamily="34" charset="0"/>
              </a:rPr>
              <a:t xml:space="preserve">Tiempo de tesis: </a:t>
            </a:r>
            <a:r>
              <a:rPr lang="es-ES" sz="2200" b="0" dirty="0">
                <a:latin typeface="Arial" panose="020B0604020202020204" pitchFamily="34" charset="0"/>
              </a:rPr>
              <a:t>2 años y medio</a:t>
            </a:r>
          </a:p>
        </p:txBody>
      </p:sp>
      <p:sp>
        <p:nvSpPr>
          <p:cNvPr id="99" name="WebURL"/>
          <p:cNvSpPr txBox="1"/>
          <p:nvPr/>
        </p:nvSpPr>
        <p:spPr>
          <a:xfrm>
            <a:off x="700000" y="5950000"/>
            <a:ext cx="10700000" cy="550000"/>
          </a:xfrm>
          <a:prstGeom prst="rect">
            <a:avLst/>
          </a:prstGeom>
          <a:noFill/>
        </p:spPr>
        <p:txBody>
          <a:bodyPr wrap="none" rtlCol="0">
            <a:spAutoFit/>
          </a:bodyPr>
          <a:lstStyle/>
          <a:p>
            <a:r>
              <a:rPr lang="es-ES" sz="1400" b="1" dirty="0">
                <a:solidFill>
                  <a:schemeClr val="accent1">
                    <a:lumMod val="50000"/>
                  </a:schemeClr>
                </a:solidFill>
                <a:latin typeface="Arial" panose="020B0604020202020204" pitchFamily="34" charset="0"/>
              </a:rPr>
              <a:t xml:space="preserve">Portal web HYDRA:  </a:t>
            </a:r>
            <a:r>
              <a:rPr lang="es-ES" sz="1400" b="0" dirty="0">
                <a:latin typeface="Arial" panose="020B0604020202020204" pitchFamily="34" charset="0"/>
              </a:rPr>
              <a:t>hydra-web--0000130.yellowwave-5aaa93b0.spaincentral.azurecontainerapps.io</a:t>
            </a:r>
          </a:p>
        </p:txBody>
      </p:sp>
    </p:spTree>
    <p:extLst>
      <p:ext uri="{BB962C8B-B14F-4D97-AF65-F5344CB8AC3E}">
        <p14:creationId xmlns:p14="http://schemas.microsoft.com/office/powerpoint/2010/main" val="3176314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9026850" y="196956"/>
            <a:ext cx="2943370" cy="430887"/>
          </a:xfrm>
          <a:prstGeom prst="rect">
            <a:avLst/>
          </a:prstGeom>
          <a:noFill/>
        </p:spPr>
        <p:txBody>
          <a:bodyPr wrap="none" rtlCol="0">
            <a:spAutoFit/>
          </a:bodyPr>
          <a:lstStyle/>
          <a:p>
            <a:r>
              <a:rPr lang="es-ES" sz="2200" b="1" dirty="0">
                <a:solidFill>
                  <a:schemeClr val="accent1">
                    <a:lumMod val="50000"/>
                  </a:schemeClr>
                </a:solidFill>
              </a:rPr>
              <a:t>HIPÓTESIS Y OBJETIVOS</a:t>
            </a:r>
          </a:p>
        </p:txBody>
      </p:sp>
      <p:sp>
        <p:nvSpPr>
          <p:cNvPr id="2" name="Subtítulo 2">
            <a:extLst>
              <a:ext uri="{FF2B5EF4-FFF2-40B4-BE49-F238E27FC236}">
                <a16:creationId xmlns:a16="http://schemas.microsoft.com/office/drawing/2014/main" id="{F6718B85-8F8D-6456-0575-4BA713CEC320}"/>
              </a:ext>
            </a:extLst>
          </p:cNvPr>
          <p:cNvSpPr txBox="1">
            <a:spLocks/>
          </p:cNvSpPr>
          <p:nvPr/>
        </p:nvSpPr>
        <p:spPr>
          <a:xfrm>
            <a:off x="1430735" y="2095929"/>
            <a:ext cx="9324975" cy="172695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s-ES" sz="2200" b="1" dirty="0">
                <a:latin typeface="Arial" panose="020B0604020202020204" pitchFamily="34" charset="0"/>
              </a:rPr>
              <a:t>Hipótesis central</a:t>
            </a:r>
          </a:p>
          <a:p>
            <a:pPr lvl="1"/>
            <a:r>
              <a:rPr lang="es-ES" sz="1900" b="0" dirty="0">
                <a:latin typeface="Arial" panose="020B0604020202020204" pitchFamily="34" charset="0"/>
              </a:rPr>
              <a:t>La principal barrera para la adopción operativa de metodologías avanzadas de análisis del riesgo de inundación no reside en la ausencia de conocimiento científico, sino en la dificultad para integrarlas dentro de flujos de trabajo reproducibles.</a:t>
            </a:r>
          </a:p>
          <a:p>
            <a:pPr>
              <a:spcBef>
                <a:spcPts val="400"/>
              </a:spcBef>
            </a:pPr>
            <a:r>
              <a:rPr lang="es-ES" sz="2200" b="1" dirty="0">
                <a:latin typeface="Arial" panose="020B0604020202020204" pitchFamily="34" charset="0"/>
              </a:rPr>
              <a:t>Objetivos — estado actual (sin cambios respecto al PI)</a:t>
            </a:r>
          </a:p>
          <a:p>
            <a:pPr lvl="1"/>
            <a:r>
              <a:rPr lang="es-ES" sz="1900" b="1" dirty="0">
                <a:latin typeface="Arial" panose="020B0604020202020204" pitchFamily="34" charset="0"/>
              </a:rPr>
              <a:t xml:space="preserve">Obj. 1 ✓  </a:t>
            </a:r>
            <a:r>
              <a:rPr lang="es-ES" sz="1900" b="0" dirty="0">
                <a:latin typeface="Arial" panose="020B0604020202020204" pitchFamily="34" charset="0"/>
              </a:rPr>
              <a:t>Integrar datos y modelos de cambio climático en flujos estocásticos de evaluación de inundaciones.</a:t>
            </a:r>
          </a:p>
          <a:p>
            <a:pPr lvl="1"/>
            <a:r>
              <a:rPr lang="es-ES" sz="1900" b="1" dirty="0">
                <a:latin typeface="Arial" panose="020B0604020202020204" pitchFamily="34" charset="0"/>
              </a:rPr>
              <a:t xml:space="preserve">Obj. 2 ✓  </a:t>
            </a:r>
            <a:r>
              <a:rPr lang="es-ES" sz="1900" b="0" dirty="0">
                <a:latin typeface="Arial" panose="020B0604020202020204" pitchFamily="34" charset="0"/>
              </a:rPr>
              <a:t>Implementar y conectar herramientas para la generación estocástica de eventos de precipitación y caudal.</a:t>
            </a:r>
          </a:p>
          <a:p>
            <a:pPr lvl="1"/>
            <a:r>
              <a:rPr lang="es-ES" sz="1900" b="1" dirty="0">
                <a:latin typeface="Arial" panose="020B0604020202020204" pitchFamily="34" charset="0"/>
              </a:rPr>
              <a:t xml:space="preserve">Obj. 3 ✓  </a:t>
            </a:r>
            <a:r>
              <a:rPr lang="es-ES" sz="1900" b="0" dirty="0">
                <a:latin typeface="Arial" panose="020B0604020202020204" pitchFamily="34" charset="0"/>
              </a:rPr>
              <a:t>Automatizar la configuración, ejecución y postprocesado de modelos hidrológicos e hidráulicos.</a:t>
            </a:r>
          </a:p>
          <a:p>
            <a:pPr lvl="1"/>
            <a:r>
              <a:rPr lang="es-ES" sz="1900" b="1" dirty="0">
                <a:latin typeface="Arial" panose="020B0604020202020204" pitchFamily="34" charset="0"/>
              </a:rPr>
              <a:t xml:space="preserve">Obj. 4 ✓  </a:t>
            </a:r>
            <a:r>
              <a:rPr lang="es-ES" sz="1900" b="0" dirty="0">
                <a:latin typeface="Arial" panose="020B0604020202020204" pitchFamily="34" charset="0"/>
              </a:rPr>
              <a:t>Consolidar, documentar y validar el marco HYDRA mediante casos de estudio reproducibles.</a:t>
            </a:r>
          </a:p>
        </p:txBody>
      </p:sp>
    </p:spTree>
    <p:extLst>
      <p:ext uri="{BB962C8B-B14F-4D97-AF65-F5344CB8AC3E}">
        <p14:creationId xmlns:p14="http://schemas.microsoft.com/office/powerpoint/2010/main" val="1003918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D296CBE-6079-D511-155F-F77ECFE5903F}"/>
              </a:ext>
            </a:extLst>
          </p:cNvPr>
          <p:cNvSpPr txBox="1"/>
          <p:nvPr/>
        </p:nvSpPr>
        <p:spPr>
          <a:xfrm>
            <a:off x="5667296" y="187431"/>
            <a:ext cx="6324679" cy="430887"/>
          </a:xfrm>
          <a:prstGeom prst="rect">
            <a:avLst/>
          </a:prstGeom>
          <a:noFill/>
        </p:spPr>
        <p:txBody>
          <a:bodyPr wrap="square" rtlCol="0">
            <a:spAutoFit/>
          </a:bodyPr>
          <a:lstStyle/>
          <a:p>
            <a:r>
              <a:rPr lang="es-ES" sz="2200" b="1" dirty="0">
                <a:solidFill>
                  <a:schemeClr val="accent1">
                    <a:lumMod val="50000"/>
                  </a:schemeClr>
                </a:solidFill>
              </a:rPr>
              <a:t>ESQUEMA GENERAL DE LA TESIS/RESUMEN GRÁFICO</a:t>
            </a:r>
          </a:p>
        </p:txBody>
      </p:sp>
      <p:sp>
        <p:nvSpPr>
          <p:cNvPr id="6" name="Subtítulo 2">
            <a:extLst>
              <a:ext uri="{FF2B5EF4-FFF2-40B4-BE49-F238E27FC236}">
                <a16:creationId xmlns:a16="http://schemas.microsoft.com/office/drawing/2014/main" id="{B0D0BB61-3975-5DBB-4C81-19CF149A07B5}"/>
              </a:ext>
            </a:extLst>
          </p:cNvPr>
          <p:cNvSpPr txBox="1">
            <a:spLocks/>
          </p:cNvSpPr>
          <p:nvPr/>
        </p:nvSpPr>
        <p:spPr>
          <a:xfrm>
            <a:off x="1697428" y="2267379"/>
            <a:ext cx="8815387" cy="172695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s-ES" sz="2000" b="0" i="1" dirty="0">
                <a:latin typeface="Arial" panose="020B0604020202020204" pitchFamily="34" charset="0"/>
              </a:rPr>
              <a:t>HYDRA es una librería Python modular que automatiza la cadena completa del análisis probabilístico de inundaciones:</a:t>
            </a:r>
          </a:p>
          <a:p>
            <a:pPr lvl="1"/>
            <a:r>
              <a:rPr lang="es-ES" sz="1900" b="1" dirty="0">
                <a:latin typeface="Arial" panose="020B0604020202020204" pitchFamily="34" charset="0"/>
              </a:rPr>
              <a:t xml:space="preserve">① Datos climáticos  </a:t>
            </a:r>
            <a:r>
              <a:rPr lang="es-ES" sz="1900" b="0" dirty="0">
                <a:latin typeface="Arial" panose="020B0604020202020204" pitchFamily="34" charset="0"/>
              </a:rPr>
              <a:t>Descarga automática de CORDEX/CMIP6, corrección de sesgo, downscaling. [SIMPCCe]</a:t>
            </a:r>
          </a:p>
          <a:p>
            <a:pPr lvl="1"/>
            <a:r>
              <a:rPr lang="es-ES" sz="1900" b="1" dirty="0">
                <a:latin typeface="Arial" panose="020B0604020202020204" pitchFamily="34" charset="0"/>
              </a:rPr>
              <a:t xml:space="preserve">② Precipitación estocástica  </a:t>
            </a:r>
            <a:r>
              <a:rPr lang="es-ES" sz="1900" b="0" dirty="0">
                <a:latin typeface="Arial" panose="020B0604020202020204" pitchFamily="34" charset="0"/>
              </a:rPr>
              <a:t>Generación sintética de campos de lluvia (Neyman-Scott). [NEOPRENE]</a:t>
            </a:r>
          </a:p>
          <a:p>
            <a:pPr lvl="1"/>
            <a:r>
              <a:rPr lang="es-ES" sz="1900" b="1" dirty="0">
                <a:latin typeface="Arial" panose="020B0604020202020204" pitchFamily="34" charset="0"/>
              </a:rPr>
              <a:t xml:space="preserve">③ Caudales estocásticos  </a:t>
            </a:r>
            <a:r>
              <a:rPr lang="es-ES" sz="1900" b="0" dirty="0">
                <a:latin typeface="Arial" panose="020B0604020202020204" pitchFamily="34" charset="0"/>
              </a:rPr>
              <a:t>Análisis multivariante de extremos, cópulas, downscaling híbrido din./est.</a:t>
            </a:r>
          </a:p>
          <a:p>
            <a:pPr lvl="1"/>
            <a:r>
              <a:rPr lang="es-ES" sz="1900" b="1" dirty="0">
                <a:latin typeface="Arial" panose="020B0604020202020204" pitchFamily="34" charset="0"/>
              </a:rPr>
              <a:t xml:space="preserve">④ Modelos H&amp;H automáticos  </a:t>
            </a:r>
            <a:r>
              <a:rPr lang="es-ES" sz="1900" b="0" dirty="0">
                <a:latin typeface="Arial" panose="020B0604020202020204" pitchFamily="34" charset="0"/>
              </a:rPr>
              <a:t>Configuración, ejecución masiva y postproceso de SFINCS y HEC-RAS.</a:t>
            </a:r>
          </a:p>
          <a:p>
            <a:pPr lvl="1"/>
            <a:r>
              <a:rPr lang="es-ES" sz="1900" b="1" dirty="0">
                <a:latin typeface="Arial" panose="020B0604020202020204" pitchFamily="34" charset="0"/>
              </a:rPr>
              <a:t xml:space="preserve">⑤ Mapas de período de retorno  </a:t>
            </a:r>
            <a:r>
              <a:rPr lang="es-ES" sz="1900" b="0" dirty="0">
                <a:latin typeface="Arial" panose="020B0604020202020204" pitchFamily="34" charset="0"/>
              </a:rPr>
              <a:t>Estimación probabilística de calados/velocidades directamente sobre los impactos (T_forzante ≠ T_impacto).</a:t>
            </a:r>
          </a:p>
          <a:p>
            <a:pPr>
              <a:spcBef>
                <a:spcPts val="400"/>
              </a:spcBef>
            </a:pPr>
            <a:r>
              <a:rPr lang="es-ES" sz="1900" b="1" dirty="0">
                <a:latin typeface="Arial" panose="020B0604020202020204" pitchFamily="34" charset="0"/>
              </a:rPr>
              <a:t>26 notebooks reproducibles  ·  9 casos de estudio validados  ·  Código abierto en GitHub</a:t>
            </a:r>
          </a:p>
          <a:p>
            <a:pPr>
              <a:spcBef>
                <a:spcPts val="500"/>
              </a:spcBef>
            </a:pPr>
            <a:r>
              <a:rPr lang="es-ES" sz="2000" b="1" dirty="0">
                <a:solidFill>
                  <a:schemeClr val="accent1">
                    <a:lumMod val="50000"/>
                  </a:schemeClr>
                </a:solidFill>
                <a:latin typeface="Arial" panose="020B0604020202020204" pitchFamily="34" charset="0"/>
              </a:rPr>
              <a:t>Portal web HYDRA</a:t>
            </a:r>
          </a:p>
        </p:txBody>
      </p:sp>
    </p:spTree>
    <p:extLst>
      <p:ext uri="{BB962C8B-B14F-4D97-AF65-F5344CB8AC3E}">
        <p14:creationId xmlns:p14="http://schemas.microsoft.com/office/powerpoint/2010/main" val="1568406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4DF2A6C-7D09-DE86-05A7-6B380DBBDC09}"/>
              </a:ext>
            </a:extLst>
          </p:cNvPr>
          <p:cNvSpPr txBox="1"/>
          <p:nvPr/>
        </p:nvSpPr>
        <p:spPr>
          <a:xfrm>
            <a:off x="5818724" y="187431"/>
            <a:ext cx="6313010" cy="430887"/>
          </a:xfrm>
          <a:prstGeom prst="rect">
            <a:avLst/>
          </a:prstGeom>
          <a:noFill/>
        </p:spPr>
        <p:txBody>
          <a:bodyPr wrap="none" rtlCol="0">
            <a:spAutoFit/>
          </a:bodyPr>
          <a:lstStyle/>
          <a:p>
            <a:r>
              <a:rPr lang="es-ES" sz="2200" b="1" dirty="0">
                <a:solidFill>
                  <a:schemeClr val="accent1">
                    <a:lumMod val="50000"/>
                  </a:schemeClr>
                </a:solidFill>
              </a:rPr>
              <a:t>OBJETIVOS FINALIZADOS Y RESULTADOS OBTENIDOS</a:t>
            </a:r>
          </a:p>
        </p:txBody>
      </p:sp>
      <p:sp>
        <p:nvSpPr>
          <p:cNvPr id="6" name="Subtítulo 2">
            <a:extLst>
              <a:ext uri="{FF2B5EF4-FFF2-40B4-BE49-F238E27FC236}">
                <a16:creationId xmlns:a16="http://schemas.microsoft.com/office/drawing/2014/main" id="{4550657D-5C40-D3B5-5B6B-F1A2D083DD54}"/>
              </a:ext>
            </a:extLst>
          </p:cNvPr>
          <p:cNvSpPr txBox="1">
            <a:spLocks/>
          </p:cNvSpPr>
          <p:nvPr/>
        </p:nvSpPr>
        <p:spPr>
          <a:xfrm>
            <a:off x="1659328" y="1876854"/>
            <a:ext cx="8815387" cy="335405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s-ES" sz="2000" b="1" dirty="0">
                <a:latin typeface="Arial" panose="020B0604020202020204" pitchFamily="34" charset="0"/>
              </a:rPr>
              <a:t>Los 4 objetivos del Plan de Investigación están completados. Sin desvíos.</a:t>
            </a:r>
          </a:p>
          <a:p>
            <a:pPr>
              <a:spcBef>
                <a:spcPts val="300"/>
              </a:spcBef>
            </a:pPr>
            <a:r>
              <a:rPr lang="es-ES" sz="2000" b="1" dirty="0">
                <a:solidFill>
                  <a:schemeClr val="accent1">
                    <a:lumMod val="50000"/>
                  </a:schemeClr>
                </a:solidFill>
                <a:latin typeface="Arial" panose="020B0604020202020204" pitchFamily="34" charset="0"/>
              </a:rPr>
              <a:t>Artículos publicados (3)</a:t>
            </a:r>
          </a:p>
          <a:p>
            <a:pPr lvl="1"/>
            <a:r>
              <a:rPr lang="es-ES" sz="1700" b="0" dirty="0">
                <a:latin typeface="Arial" panose="020B0604020202020204" pitchFamily="34" charset="0"/>
              </a:rPr>
              <a:t>Diez-Sierra, Navas, del Jesús (2023). NEOPRENE v1.0.1. Geoscientific Model Development, 16(17), 5035–5048.</a:t>
            </a:r>
          </a:p>
          <a:p>
            <a:pPr lvl="1"/>
            <a:r>
              <a:rPr lang="es-ES" sz="1700" b="0" dirty="0">
                <a:latin typeface="Arial" panose="020B0604020202020204" pitchFamily="34" charset="0"/>
              </a:rPr>
              <a:t>Navas, del Jesús, Martín, Sánchez (2024). Calle 30, Madrid. Ingeniería del Agua, 28(4), 263–279.</a:t>
            </a:r>
          </a:p>
          <a:p>
            <a:pPr lvl="1"/>
            <a:r>
              <a:rPr lang="es-ES" sz="1700" b="0" dirty="0">
                <a:latin typeface="Arial" panose="020B0604020202020204" pitchFamily="34" charset="0"/>
              </a:rPr>
              <a:t>Navas, del Jesús (2025). SIMPCCe. Ingeniería del Agua, 29(2), 132–148.</a:t>
            </a:r>
          </a:p>
          <a:p>
            <a:pPr>
              <a:spcBef>
                <a:spcPts val="300"/>
              </a:spcBef>
            </a:pPr>
            <a:r>
              <a:rPr lang="es-ES" sz="2000" b="1" dirty="0">
                <a:solidFill>
                  <a:schemeClr val="accent1">
                    <a:lumMod val="50000"/>
                  </a:schemeClr>
                </a:solidFill>
                <a:latin typeface="Arial" panose="020B0604020202020204" pitchFamily="34" charset="0"/>
              </a:rPr>
              <a:t>Artículos enviados / en revisión (3)</a:t>
            </a:r>
          </a:p>
          <a:p>
            <a:pPr lvl="1"/>
            <a:r>
              <a:rPr lang="es-ES" sz="1700" b="0" dirty="0">
                <a:latin typeface="Arial" panose="020B0604020202020204" pitchFamily="34" charset="0"/>
              </a:rPr>
              <a:t>del Jesús, Navas, Urrea (2025). Valencia DANA. Ingeniería del Agua. [Enviado]</a:t>
            </a:r>
          </a:p>
          <a:p>
            <a:pPr lvl="1"/>
            <a:r>
              <a:rPr lang="es-ES" sz="1700" b="0" dirty="0">
                <a:latin typeface="Arial" panose="020B0604020202020204" pitchFamily="34" charset="0"/>
              </a:rPr>
              <a:t>Navas, del Jesús, Tomás, Martín (2025). Lago Tanganica. Ingeniería del Agua. [Enviado]</a:t>
            </a:r>
          </a:p>
          <a:p>
            <a:pPr lvl="1"/>
            <a:r>
              <a:rPr lang="es-ES" sz="1700" b="0" dirty="0">
                <a:latin typeface="Arial" panose="020B0604020202020204" pitchFamily="34" charset="0"/>
              </a:rPr>
              <a:t>Navas, Galán, del Jesús (2025). Roughness uncertainty SFINCS vs HEC-RAS. Env. Modelling &amp; Software. [Enviado]</a:t>
            </a:r>
          </a:p>
          <a:p>
            <a:pPr>
              <a:spcBef>
                <a:spcPts val="300"/>
              </a:spcBef>
            </a:pPr>
            <a:r>
              <a:rPr lang="es-ES" sz="2000" b="1" dirty="0">
                <a:solidFill>
                  <a:schemeClr val="accent1">
                    <a:lumMod val="50000"/>
                  </a:schemeClr>
                </a:solidFill>
                <a:latin typeface="Arial" panose="020B0604020202020204" pitchFamily="34" charset="0"/>
              </a:rPr>
              <a:t>Congresos (6 ponencias orales)</a:t>
            </a:r>
          </a:p>
          <a:p>
            <a:pPr lvl="1"/>
            <a:r>
              <a:rPr lang="es-ES" sz="1700" b="0" dirty="0">
                <a:latin typeface="Arial" panose="020B0604020202020204" pitchFamily="34" charset="0"/>
              </a:rPr>
              <a:t>JIA 2024 – SIMPCCe (nac.) · HIC 2024 – SIMPCCe (int.) · InterJIA 2024 – HYDRA (int.)</a:t>
            </a:r>
          </a:p>
          <a:p>
            <a:pPr lvl="1"/>
            <a:r>
              <a:rPr lang="es-ES" sz="1700" b="0" dirty="0">
                <a:latin typeface="Arial" panose="020B0604020202020204" pitchFamily="34" charset="0"/>
              </a:rPr>
              <a:t>JIA 2025 – Valencia DANA (nac.) · JIA 2025 – Tanganica (nac.) · EMS 2025 – Roughness (int.)</a:t>
            </a:r>
          </a:p>
        </p:txBody>
      </p:sp>
    </p:spTree>
    <p:extLst>
      <p:ext uri="{BB962C8B-B14F-4D97-AF65-F5344CB8AC3E}">
        <p14:creationId xmlns:p14="http://schemas.microsoft.com/office/powerpoint/2010/main" val="145665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6C28C6E-0BEE-9128-1240-62491E6B63B6}"/>
              </a:ext>
            </a:extLst>
          </p:cNvPr>
          <p:cNvSpPr txBox="1"/>
          <p:nvPr/>
        </p:nvSpPr>
        <p:spPr>
          <a:xfrm>
            <a:off x="8631902" y="187431"/>
            <a:ext cx="3383619" cy="430887"/>
          </a:xfrm>
          <a:prstGeom prst="rect">
            <a:avLst/>
          </a:prstGeom>
          <a:noFill/>
        </p:spPr>
        <p:txBody>
          <a:bodyPr wrap="none" rtlCol="0">
            <a:spAutoFit/>
          </a:bodyPr>
          <a:lstStyle/>
          <a:p>
            <a:r>
              <a:rPr lang="es-ES" sz="2200" b="1" dirty="0">
                <a:solidFill>
                  <a:schemeClr val="accent1">
                    <a:lumMod val="50000"/>
                  </a:schemeClr>
                </a:solidFill>
              </a:rPr>
              <a:t>DESARROLLOS PENDIENTES</a:t>
            </a:r>
          </a:p>
        </p:txBody>
      </p:sp>
      <p:sp>
        <p:nvSpPr>
          <p:cNvPr id="6" name="Subtítulo 2">
            <a:extLst>
              <a:ext uri="{FF2B5EF4-FFF2-40B4-BE49-F238E27FC236}">
                <a16:creationId xmlns:a16="http://schemas.microsoft.com/office/drawing/2014/main" id="{99A2836B-19C9-6857-46C1-3C3C6C2F4920}"/>
              </a:ext>
            </a:extLst>
          </p:cNvPr>
          <p:cNvSpPr txBox="1">
            <a:spLocks/>
          </p:cNvSpPr>
          <p:nvPr/>
        </p:nvSpPr>
        <p:spPr>
          <a:xfrm>
            <a:off x="1707356" y="2429304"/>
            <a:ext cx="8815387" cy="172695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s-ES" sz="2200" b="1" dirty="0">
                <a:latin typeface="Arial" panose="020B0604020202020204" pitchFamily="34" charset="0"/>
              </a:rPr>
              <a:t>Antes del depósito</a:t>
            </a:r>
          </a:p>
          <a:p>
            <a:pPr lvl="1"/>
            <a:r>
              <a:rPr lang="es-ES" sz="2000" b="0" dirty="0">
                <a:latin typeface="Arial" panose="020B0604020202020204" pitchFamily="34" charset="0"/>
              </a:rPr>
              <a:t>Revisiones menores del manuscrito (correcciones editoriales y verificación de compilación final).</a:t>
            </a:r>
          </a:p>
          <a:p>
            <a:pPr lvl="1"/>
            <a:r>
              <a:rPr lang="es-ES" sz="2000" b="0" dirty="0">
                <a:latin typeface="Arial" panose="020B0604020202020204" pitchFamily="34" charset="0"/>
              </a:rPr>
              <a:t>Depósito formal de la tesis — previsto en 2026.</a:t>
            </a:r>
          </a:p>
          <a:p>
            <a:pPr>
              <a:spcBef>
                <a:spcPts val="400"/>
              </a:spcBef>
            </a:pPr>
            <a:r>
              <a:rPr lang="es-ES" sz="2200" b="1" dirty="0">
                <a:latin typeface="Arial" panose="020B0604020202020204" pitchFamily="34" charset="0"/>
              </a:rPr>
              <a:t>Tras el depósito</a:t>
            </a:r>
          </a:p>
          <a:p>
            <a:pPr lvl="1"/>
            <a:r>
              <a:rPr lang="es-ES" sz="2000" b="0" dirty="0">
                <a:latin typeface="Arial" panose="020B0604020202020204" pitchFamily="34" charset="0"/>
              </a:rPr>
              <a:t>Defensa de la tesis ante el tribunal.</a:t>
            </a:r>
          </a:p>
          <a:p>
            <a:pPr lvl="1"/>
            <a:r>
              <a:rPr lang="es-ES" sz="2000" b="0" dirty="0">
                <a:latin typeface="Arial" panose="020B0604020202020204" pitchFamily="34" charset="0"/>
              </a:rPr>
              <a:t>Seguimiento de los 3 artículos enviados pendientes de revisión/aceptación.</a:t>
            </a:r>
          </a:p>
          <a:p>
            <a:pPr>
              <a:spcBef>
                <a:spcPts val="400"/>
              </a:spcBef>
            </a:pPr>
            <a:r>
              <a:rPr lang="es-ES" sz="2200" b="1" dirty="0">
                <a:latin typeface="Arial" panose="020B0604020202020204" pitchFamily="34" charset="0"/>
              </a:rPr>
              <a:t>Resultados esperables</a:t>
            </a:r>
          </a:p>
          <a:p>
            <a:pPr lvl="1"/>
            <a:r>
              <a:rPr lang="es-ES" sz="2000" b="0" dirty="0">
                <a:latin typeface="Arial" panose="020B0604020202020204" pitchFamily="34" charset="0"/>
              </a:rPr>
              <a:t>Obtención del título de Doctor con mención internacional.</a:t>
            </a:r>
          </a:p>
          <a:p>
            <a:pPr lvl="1"/>
            <a:r>
              <a:rPr lang="es-ES" sz="2000" b="0" dirty="0">
                <a:latin typeface="Arial" panose="020B0604020202020204" pitchFamily="34" charset="0"/>
              </a:rPr>
              <a:t>Publicación o aceptación de al menos 2 de los 3 artículos enviados.</a:t>
            </a:r>
          </a:p>
        </p:txBody>
      </p:sp>
    </p:spTree>
    <p:extLst>
      <p:ext uri="{BB962C8B-B14F-4D97-AF65-F5344CB8AC3E}">
        <p14:creationId xmlns:p14="http://schemas.microsoft.com/office/powerpoint/2010/main" val="2964780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6C28C6E-0BEE-9128-1240-62491E6B63B6}"/>
              </a:ext>
            </a:extLst>
          </p:cNvPr>
          <p:cNvSpPr txBox="1"/>
          <p:nvPr/>
        </p:nvSpPr>
        <p:spPr>
          <a:xfrm>
            <a:off x="7165052" y="187431"/>
            <a:ext cx="4808560" cy="430887"/>
          </a:xfrm>
          <a:prstGeom prst="rect">
            <a:avLst/>
          </a:prstGeom>
          <a:noFill/>
        </p:spPr>
        <p:txBody>
          <a:bodyPr wrap="none" rtlCol="0">
            <a:spAutoFit/>
          </a:bodyPr>
          <a:lstStyle/>
          <a:p>
            <a:r>
              <a:rPr lang="es-ES" sz="2200" b="1" dirty="0">
                <a:solidFill>
                  <a:schemeClr val="accent1">
                    <a:lumMod val="50000"/>
                  </a:schemeClr>
                </a:solidFill>
              </a:rPr>
              <a:t>PROPUESTA ACTIVIDADES FORMATIVAS</a:t>
            </a:r>
          </a:p>
        </p:txBody>
      </p:sp>
      <p:sp>
        <p:nvSpPr>
          <p:cNvPr id="8" name="Subtítulo 2">
            <a:extLst>
              <a:ext uri="{FF2B5EF4-FFF2-40B4-BE49-F238E27FC236}">
                <a16:creationId xmlns:a16="http://schemas.microsoft.com/office/drawing/2014/main" id="{6908EE37-FCE7-E0C2-49C6-8ECCD98854BF}"/>
              </a:ext>
            </a:extLst>
          </p:cNvPr>
          <p:cNvSpPr txBox="1">
            <a:spLocks/>
          </p:cNvSpPr>
          <p:nvPr/>
        </p:nvSpPr>
        <p:spPr>
          <a:xfrm>
            <a:off x="735403" y="1876854"/>
            <a:ext cx="10732697" cy="1726958"/>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2200" b="0" i="1" dirty="0">
                <a:latin typeface="Arial" panose="020B0604020202020204" pitchFamily="34" charset="0"/>
              </a:rPr>
              <a:t>La tesis se encuentra en fase final de depósito.</a:t>
            </a:r>
          </a:p>
          <a:p>
            <a:pPr marL="0" indent="0">
              <a:buNone/>
            </a:pPr>
            <a:r>
              <a:rPr lang="es-ES" sz="2200" b="0" dirty="0">
                <a:latin typeface="Arial" panose="020B0604020202020204" pitchFamily="34" charset="0"/>
              </a:rPr>
              <a:t>No se proponen nuevas actividades formativas regladas para el próximo año, dado que el doctorado está en fase de conclusión.</a:t>
            </a:r>
          </a:p>
          <a:p>
            <a:pPr marL="0" indent="0">
              <a:buNone/>
            </a:pPr>
            <a:endParaRPr lang="es-ES" dirty="0"/>
          </a:p>
          <a:p>
            <a:r>
              <a:rPr lang="es-ES" sz="2200" b="1" dirty="0">
                <a:latin typeface="Arial" panose="020B0604020202020204" pitchFamily="34" charset="0"/>
              </a:rPr>
              <a:t>Actividad prevista</a:t>
            </a:r>
          </a:p>
          <a:p>
            <a:pPr lvl="1"/>
            <a:r>
              <a:rPr lang="es-ES" sz="2000" b="0" dirty="0">
                <a:latin typeface="Arial" panose="020B0604020202020204" pitchFamily="34" charset="0"/>
              </a:rPr>
              <a:t>Respuesta a revisores de los artículos enviados a Ingeniería del Agua y Environmental Modelling &amp; Software.</a:t>
            </a:r>
          </a:p>
          <a:p>
            <a:pPr lvl="1"/>
            <a:r>
              <a:rPr lang="es-ES" sz="2000" b="0" dirty="0">
                <a:latin typeface="Arial" panose="020B0604020202020204" pitchFamily="34" charset="0"/>
              </a:rPr>
              <a:t>Presentación de resultados si se aceptan ponencias en congresos pendientes de resolución.</a:t>
            </a:r>
          </a:p>
        </p:txBody>
      </p:sp>
    </p:spTree>
    <p:extLst>
      <p:ext uri="{BB962C8B-B14F-4D97-AF65-F5344CB8AC3E}">
        <p14:creationId xmlns:p14="http://schemas.microsoft.com/office/powerpoint/2010/main" val="2859172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BBA8DDB1-E770-1B88-50E0-14FD06588B3F}"/>
              </a:ext>
            </a:extLst>
          </p:cNvPr>
          <p:cNvSpPr txBox="1"/>
          <p:nvPr/>
        </p:nvSpPr>
        <p:spPr>
          <a:xfrm>
            <a:off x="6163120" y="197056"/>
            <a:ext cx="5832622" cy="430887"/>
          </a:xfrm>
          <a:prstGeom prst="rect">
            <a:avLst/>
          </a:prstGeom>
          <a:noFill/>
        </p:spPr>
        <p:txBody>
          <a:bodyPr wrap="none" rtlCol="0">
            <a:spAutoFit/>
          </a:bodyPr>
          <a:lstStyle/>
          <a:p>
            <a:r>
              <a:rPr lang="es-ES" sz="2200" b="1" dirty="0">
                <a:solidFill>
                  <a:schemeClr val="accent1">
                    <a:lumMod val="50000"/>
                  </a:schemeClr>
                </a:solidFill>
              </a:rPr>
              <a:t>CUMPLIMIENTO DE REQUISISTOS FORMATIVOS</a:t>
            </a:r>
          </a:p>
        </p:txBody>
      </p:sp>
      <p:sp>
        <p:nvSpPr>
          <p:cNvPr id="8" name="Subtítulo 2">
            <a:extLst>
              <a:ext uri="{FF2B5EF4-FFF2-40B4-BE49-F238E27FC236}">
                <a16:creationId xmlns:a16="http://schemas.microsoft.com/office/drawing/2014/main" id="{E6714EA2-4C8F-F59B-117F-24D3B5068CE6}"/>
              </a:ext>
            </a:extLst>
          </p:cNvPr>
          <p:cNvSpPr txBox="1">
            <a:spLocks/>
          </p:cNvSpPr>
          <p:nvPr/>
        </p:nvSpPr>
        <p:spPr>
          <a:xfrm>
            <a:off x="552450" y="1056025"/>
            <a:ext cx="11639550" cy="106621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Resumir el nivel de cumplimiento de los requerimientos del Programa, de acuerdo con el DAD.</a:t>
            </a:r>
          </a:p>
          <a:p>
            <a:pPr marL="0" indent="0">
              <a:buNone/>
            </a:pPr>
            <a:endParaRPr lang="es-ES" dirty="0"/>
          </a:p>
        </p:txBody>
      </p:sp>
      <p:graphicFrame>
        <p:nvGraphicFramePr>
          <p:cNvPr id="9" name="Tabla 8">
            <a:extLst>
              <a:ext uri="{FF2B5EF4-FFF2-40B4-BE49-F238E27FC236}">
                <a16:creationId xmlns:a16="http://schemas.microsoft.com/office/drawing/2014/main" id="{A140DB88-2979-94CB-B1D1-3D83A8B2B59B}"/>
              </a:ext>
            </a:extLst>
          </p:cNvPr>
          <p:cNvGraphicFramePr>
            <a:graphicFrameLocks noGrp="1"/>
          </p:cNvGraphicFramePr>
          <p:nvPr>
            <p:extLst>
              <p:ext uri="{D42A27DB-BD31-4B8C-83A1-F6EECF244321}">
                <p14:modId xmlns:p14="http://schemas.microsoft.com/office/powerpoint/2010/main" val="2283451460"/>
              </p:ext>
            </p:extLst>
          </p:nvPr>
        </p:nvGraphicFramePr>
        <p:xfrm>
          <a:off x="1805268" y="1857469"/>
          <a:ext cx="8715703" cy="4803475"/>
        </p:xfrm>
        <a:graphic>
          <a:graphicData uri="http://schemas.openxmlformats.org/drawingml/2006/table">
            <a:tbl>
              <a:tblPr firstRow="1" firstCol="1" bandRow="1">
                <a:effectLst>
                  <a:outerShdw blurRad="50800" dist="127000" dir="2700000" algn="tl" rotWithShape="0">
                    <a:prstClr val="black">
                      <a:alpha val="40000"/>
                    </a:prstClr>
                  </a:outerShdw>
                </a:effectLst>
                <a:tableStyleId>{5C22544A-7EE6-4342-B048-85BDC9FD1C3A}</a:tableStyleId>
              </a:tblPr>
              <a:tblGrid>
                <a:gridCol w="3520988">
                  <a:extLst>
                    <a:ext uri="{9D8B030D-6E8A-4147-A177-3AD203B41FA5}">
                      <a16:colId xmlns:a16="http://schemas.microsoft.com/office/drawing/2014/main" val="2447349771"/>
                    </a:ext>
                  </a:extLst>
                </a:gridCol>
                <a:gridCol w="3574974">
                  <a:extLst>
                    <a:ext uri="{9D8B030D-6E8A-4147-A177-3AD203B41FA5}">
                      <a16:colId xmlns:a16="http://schemas.microsoft.com/office/drawing/2014/main" val="2009009992"/>
                    </a:ext>
                  </a:extLst>
                </a:gridCol>
                <a:gridCol w="1619741">
                  <a:extLst>
                    <a:ext uri="{9D8B030D-6E8A-4147-A177-3AD203B41FA5}">
                      <a16:colId xmlns:a16="http://schemas.microsoft.com/office/drawing/2014/main" val="3240775270"/>
                    </a:ext>
                  </a:extLst>
                </a:gridCol>
              </a:tblGrid>
              <a:tr h="411152">
                <a:tc>
                  <a:txBody>
                    <a:bodyPr/>
                    <a:lstStyle/>
                    <a:p>
                      <a:pPr algn="ctr">
                        <a:spcAft>
                          <a:spcPts val="0"/>
                        </a:spcAft>
                      </a:pPr>
                      <a:r>
                        <a:rPr lang="en-GB" sz="1400" dirty="0" err="1">
                          <a:effectLst/>
                          <a:latin typeface="Arial" panose="020B0604020202020204" pitchFamily="34" charset="0"/>
                          <a:cs typeface="Arial" panose="020B0604020202020204" pitchFamily="34" charset="0"/>
                        </a:rPr>
                        <a:t>Categoría</a:t>
                      </a:r>
                      <a:endParaRPr lang="es-E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accent2"/>
                    </a:solidFill>
                  </a:tcPr>
                </a:tc>
                <a:tc>
                  <a:txBody>
                    <a:bodyPr/>
                    <a:lstStyle/>
                    <a:p>
                      <a:pPr algn="ctr">
                        <a:spcAft>
                          <a:spcPts val="0"/>
                        </a:spcAft>
                      </a:pPr>
                      <a:r>
                        <a:rPr lang="en-GB" sz="1400" dirty="0" err="1">
                          <a:effectLst/>
                          <a:latin typeface="Arial" panose="020B0604020202020204" pitchFamily="34" charset="0"/>
                          <a:cs typeface="Arial" panose="020B0604020202020204" pitchFamily="34" charset="0"/>
                        </a:rPr>
                        <a:t>Actividades</a:t>
                      </a:r>
                      <a:r>
                        <a:rPr lang="en-GB" sz="1400" dirty="0">
                          <a:effectLst/>
                          <a:latin typeface="Arial" panose="020B0604020202020204" pitchFamily="34" charset="0"/>
                          <a:cs typeface="Arial" panose="020B0604020202020204" pitchFamily="34" charset="0"/>
                        </a:rPr>
                        <a:t xml:space="preserve"> IH2O</a:t>
                      </a:r>
                      <a:endParaRPr lang="es-E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accent6"/>
                    </a:solidFill>
                  </a:tcPr>
                </a:tc>
                <a:tc>
                  <a:txBody>
                    <a:bodyPr/>
                    <a:lstStyle/>
                    <a:p>
                      <a:pPr algn="ctr">
                        <a:spcAft>
                          <a:spcPts val="0"/>
                        </a:spcAft>
                      </a:pPr>
                      <a:r>
                        <a:rPr lang="en-GB" sz="1400" dirty="0" err="1">
                          <a:effectLst/>
                          <a:latin typeface="Arial" panose="020B0604020202020204" pitchFamily="34" charset="0"/>
                          <a:cs typeface="Arial" panose="020B0604020202020204" pitchFamily="34" charset="0"/>
                        </a:rPr>
                        <a:t>Requerimiento</a:t>
                      </a:r>
                      <a:endParaRPr lang="es-E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accent1"/>
                    </a:solidFill>
                  </a:tcPr>
                </a:tc>
                <a:extLst>
                  <a:ext uri="{0D108BD9-81ED-4DB2-BD59-A6C34878D82A}">
                    <a16:rowId xmlns:a16="http://schemas.microsoft.com/office/drawing/2014/main" val="1808997503"/>
                  </a:ext>
                </a:extLst>
              </a:tr>
              <a:tr h="302980">
                <a:tc>
                  <a:txBody>
                    <a:bodyPr/>
                    <a:lstStyle/>
                    <a:p>
                      <a:pPr>
                        <a:spcAft>
                          <a:spcPts val="0"/>
                        </a:spcAft>
                      </a:pPr>
                      <a:r>
                        <a:rPr lang="en-GB" sz="1400" b="0" dirty="0">
                          <a:effectLst/>
                          <a:latin typeface="Arial" panose="020B0604020202020204" pitchFamily="34" charset="0"/>
                          <a:cs typeface="Arial" panose="020B0604020202020204" pitchFamily="34" charset="0"/>
                        </a:rPr>
                        <a:t>Formación Transversal</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algn="just">
                        <a:spcAft>
                          <a:spcPts val="0"/>
                        </a:spcAft>
                      </a:pPr>
                      <a:r>
                        <a:rPr lang="en-GB" sz="1400" b="0" dirty="0">
                          <a:effectLst/>
                          <a:latin typeface="Arial" panose="020B0604020202020204" pitchFamily="34" charset="0"/>
                          <a:cs typeface="Arial" panose="020B0604020202020204" pitchFamily="34" charset="0"/>
                        </a:rPr>
                        <a:t>EDUC</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bg2"/>
                    </a:solidFill>
                  </a:tcPr>
                </a:tc>
                <a:tc>
                  <a:txBody>
                    <a:bodyPr/>
                    <a:lstStyle/>
                    <a:p>
                      <a:pPr algn="ctr">
                        <a:spcAft>
                          <a:spcPts val="0"/>
                        </a:spcAft>
                      </a:pPr>
                      <a:r>
                        <a:rPr lang="en-GB" sz="1400" b="0" dirty="0">
                          <a:effectLst/>
                          <a:latin typeface="Arial" panose="020B0604020202020204" pitchFamily="34" charset="0"/>
                          <a:cs typeface="Arial" panose="020B0604020202020204" pitchFamily="34" charset="0"/>
                        </a:rPr>
                        <a:t>40 horas</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bg2"/>
                    </a:solidFill>
                  </a:tcPr>
                </a:tc>
                <a:extLst>
                  <a:ext uri="{0D108BD9-81ED-4DB2-BD59-A6C34878D82A}">
                    <a16:rowId xmlns:a16="http://schemas.microsoft.com/office/drawing/2014/main" val="1486429296"/>
                  </a:ext>
                </a:extLst>
              </a:tr>
              <a:tr h="538632">
                <a:tc>
                  <a:txBody>
                    <a:bodyPr/>
                    <a:lstStyle/>
                    <a:p>
                      <a:pPr>
                        <a:spcAft>
                          <a:spcPts val="0"/>
                        </a:spcAft>
                      </a:pPr>
                      <a:r>
                        <a:rPr lang="en-GB" sz="1400" b="0" dirty="0" err="1">
                          <a:effectLst/>
                          <a:latin typeface="Arial" panose="020B0604020202020204" pitchFamily="34" charset="0"/>
                          <a:cs typeface="Arial" panose="020B0604020202020204" pitchFamily="34" charset="0"/>
                        </a:rPr>
                        <a:t>Seminarios</a:t>
                      </a:r>
                      <a:r>
                        <a:rPr lang="en-GB" sz="1400" b="0" dirty="0">
                          <a:effectLst/>
                          <a:latin typeface="Arial" panose="020B0604020202020204" pitchFamily="34" charset="0"/>
                          <a:cs typeface="Arial" panose="020B0604020202020204" pitchFamily="34" charset="0"/>
                        </a:rPr>
                        <a:t xml:space="preserve"> </a:t>
                      </a:r>
                      <a:r>
                        <a:rPr lang="en-GB" sz="1400" b="0" dirty="0" err="1">
                          <a:effectLst/>
                          <a:latin typeface="Arial" panose="020B0604020202020204" pitchFamily="34" charset="0"/>
                          <a:cs typeface="Arial" panose="020B0604020202020204" pitchFamily="34" charset="0"/>
                        </a:rPr>
                        <a:t>especializados</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algn="just">
                        <a:spcAft>
                          <a:spcPts val="0"/>
                        </a:spcAft>
                      </a:pPr>
                      <a:r>
                        <a:rPr lang="es-ES" sz="1400" b="0" dirty="0">
                          <a:effectLst/>
                          <a:latin typeface="Arial" panose="020B0604020202020204" pitchFamily="34" charset="0"/>
                          <a:cs typeface="Arial" panose="020B0604020202020204" pitchFamily="34" charset="0"/>
                        </a:rPr>
                        <a:t>Seminarios internacionales</a:t>
                      </a:r>
                    </a:p>
                    <a:p>
                      <a:pPr algn="just">
                        <a:spcAft>
                          <a:spcPts val="0"/>
                        </a:spcAft>
                      </a:pPr>
                      <a:r>
                        <a:rPr lang="en-GB" sz="1400" b="0" dirty="0" err="1">
                          <a:effectLst/>
                          <a:latin typeface="Arial" panose="020B0604020202020204" pitchFamily="34" charset="0"/>
                          <a:cs typeface="Arial" panose="020B0604020202020204" pitchFamily="34" charset="0"/>
                        </a:rPr>
                        <a:t>Seminarios</a:t>
                      </a:r>
                      <a:r>
                        <a:rPr lang="en-GB" sz="1400" b="0" dirty="0">
                          <a:effectLst/>
                          <a:latin typeface="Arial" panose="020B0604020202020204" pitchFamily="34" charset="0"/>
                          <a:cs typeface="Arial" panose="020B0604020202020204" pitchFamily="34" charset="0"/>
                        </a:rPr>
                        <a:t xml:space="preserve"> IH20+10</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bg2"/>
                    </a:solidFill>
                  </a:tcPr>
                </a:tc>
                <a:tc>
                  <a:txBody>
                    <a:bodyPr/>
                    <a:lstStyle/>
                    <a:p>
                      <a:pPr algn="ctr">
                        <a:spcAft>
                          <a:spcPts val="0"/>
                        </a:spcAft>
                      </a:pPr>
                      <a:r>
                        <a:rPr lang="en-GB" sz="1400" b="0" dirty="0">
                          <a:effectLst/>
                          <a:latin typeface="Arial" panose="020B0604020202020204" pitchFamily="34" charset="0"/>
                          <a:cs typeface="Arial" panose="020B0604020202020204" pitchFamily="34" charset="0"/>
                        </a:rPr>
                        <a:t>18 horas</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bg2"/>
                    </a:solidFill>
                  </a:tcPr>
                </a:tc>
                <a:extLst>
                  <a:ext uri="{0D108BD9-81ED-4DB2-BD59-A6C34878D82A}">
                    <a16:rowId xmlns:a16="http://schemas.microsoft.com/office/drawing/2014/main" val="2230913950"/>
                  </a:ext>
                </a:extLst>
              </a:tr>
              <a:tr h="409236">
                <a:tc>
                  <a:txBody>
                    <a:bodyPr/>
                    <a:lstStyle/>
                    <a:p>
                      <a:pPr>
                        <a:spcAft>
                          <a:spcPts val="0"/>
                        </a:spcAft>
                      </a:pPr>
                      <a:r>
                        <a:rPr lang="en-GB" sz="1400" b="0" dirty="0">
                          <a:effectLst/>
                          <a:latin typeface="Arial" panose="020B0604020202020204" pitchFamily="34" charset="0"/>
                          <a:cs typeface="Arial" panose="020B0604020202020204" pitchFamily="34" charset="0"/>
                        </a:rPr>
                        <a:t>Cursos (</a:t>
                      </a:r>
                      <a:r>
                        <a:rPr lang="en-GB" sz="1400" b="0" dirty="0" err="1">
                          <a:effectLst/>
                          <a:latin typeface="Arial" panose="020B0604020202020204" pitchFamily="34" charset="0"/>
                          <a:cs typeface="Arial" panose="020B0604020202020204" pitchFamily="34" charset="0"/>
                        </a:rPr>
                        <a:t>métodos</a:t>
                      </a:r>
                      <a:r>
                        <a:rPr lang="en-GB" sz="1400" b="0" dirty="0">
                          <a:effectLst/>
                          <a:latin typeface="Arial" panose="020B0604020202020204" pitchFamily="34" charset="0"/>
                          <a:cs typeface="Arial" panose="020B0604020202020204" pitchFamily="34" charset="0"/>
                        </a:rPr>
                        <a:t xml:space="preserve">, </a:t>
                      </a:r>
                      <a:r>
                        <a:rPr lang="en-GB" sz="1400" b="0" dirty="0" err="1">
                          <a:effectLst/>
                          <a:latin typeface="Arial" panose="020B0604020202020204" pitchFamily="34" charset="0"/>
                          <a:cs typeface="Arial" panose="020B0604020202020204" pitchFamily="34" charset="0"/>
                        </a:rPr>
                        <a:t>modelos</a:t>
                      </a:r>
                      <a:r>
                        <a:rPr lang="en-GB" sz="1400" b="0" dirty="0">
                          <a:effectLst/>
                          <a:latin typeface="Arial" panose="020B0604020202020204" pitchFamily="34" charset="0"/>
                          <a:cs typeface="Arial" panose="020B0604020202020204" pitchFamily="34" charset="0"/>
                        </a:rPr>
                        <a:t xml:space="preserve">, </a:t>
                      </a:r>
                      <a:r>
                        <a:rPr lang="en-GB" sz="1400" b="0" dirty="0" err="1">
                          <a:effectLst/>
                          <a:latin typeface="Arial" panose="020B0604020202020204" pitchFamily="34" charset="0"/>
                          <a:cs typeface="Arial" panose="020B0604020202020204" pitchFamily="34" charset="0"/>
                        </a:rPr>
                        <a:t>estadística</a:t>
                      </a:r>
                      <a:r>
                        <a:rPr lang="en-GB" sz="1400" b="0" dirty="0">
                          <a:effectLst/>
                          <a:latin typeface="Arial" panose="020B0604020202020204" pitchFamily="34" charset="0"/>
                          <a:cs typeface="Arial" panose="020B0604020202020204" pitchFamily="34" charset="0"/>
                        </a:rPr>
                        <a:t>..)</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algn="just">
                        <a:spcAft>
                          <a:spcPts val="0"/>
                        </a:spcAft>
                      </a:pPr>
                      <a:r>
                        <a:rPr lang="en-GB" sz="1400" b="0" dirty="0">
                          <a:effectLst/>
                          <a:latin typeface="Arial" panose="020B0604020202020204" pitchFamily="34" charset="0"/>
                          <a:cs typeface="Arial" panose="020B0604020202020204" pitchFamily="34" charset="0"/>
                        </a:rPr>
                        <a:t xml:space="preserve">Cursos de </a:t>
                      </a:r>
                      <a:r>
                        <a:rPr lang="en-GB" sz="1400" b="0" dirty="0" err="1">
                          <a:effectLst/>
                          <a:latin typeface="Arial" panose="020B0604020202020204" pitchFamily="34" charset="0"/>
                          <a:cs typeface="Arial" panose="020B0604020202020204" pitchFamily="34" charset="0"/>
                        </a:rPr>
                        <a:t>especialización</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bg2"/>
                    </a:solidFill>
                  </a:tcPr>
                </a:tc>
                <a:tc>
                  <a:txBody>
                    <a:bodyPr/>
                    <a:lstStyle/>
                    <a:p>
                      <a:pPr algn="ctr">
                        <a:spcAft>
                          <a:spcPts val="0"/>
                        </a:spcAft>
                      </a:pPr>
                      <a:r>
                        <a:rPr lang="en-GB" sz="1400" b="0" dirty="0">
                          <a:effectLst/>
                          <a:latin typeface="Arial" panose="020B0604020202020204" pitchFamily="34" charset="0"/>
                          <a:cs typeface="Arial" panose="020B0604020202020204" pitchFamily="34" charset="0"/>
                        </a:rPr>
                        <a:t>4 Cursos</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bg2"/>
                    </a:solidFill>
                  </a:tcPr>
                </a:tc>
                <a:extLst>
                  <a:ext uri="{0D108BD9-81ED-4DB2-BD59-A6C34878D82A}">
                    <a16:rowId xmlns:a16="http://schemas.microsoft.com/office/drawing/2014/main" val="10804186"/>
                  </a:ext>
                </a:extLst>
              </a:tr>
              <a:tr h="385482">
                <a:tc>
                  <a:txBody>
                    <a:bodyPr/>
                    <a:lstStyle/>
                    <a:p>
                      <a:pPr>
                        <a:spcAft>
                          <a:spcPts val="0"/>
                        </a:spcAft>
                      </a:pPr>
                      <a:r>
                        <a:rPr lang="en-GB" sz="1400" b="0" dirty="0">
                          <a:effectLst/>
                          <a:latin typeface="Arial" panose="020B0604020202020204" pitchFamily="34" charset="0"/>
                          <a:cs typeface="Arial" panose="020B0604020202020204" pitchFamily="34" charset="0"/>
                        </a:rPr>
                        <a:t>Proyectos/</a:t>
                      </a:r>
                      <a:r>
                        <a:rPr lang="en-GB" sz="1400" b="0" dirty="0" err="1">
                          <a:effectLst/>
                          <a:latin typeface="Arial" panose="020B0604020202020204" pitchFamily="34" charset="0"/>
                          <a:cs typeface="Arial" panose="020B0604020202020204" pitchFamily="34" charset="0"/>
                        </a:rPr>
                        <a:t>Contratos</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algn="just">
                        <a:spcAft>
                          <a:spcPts val="0"/>
                        </a:spcAft>
                      </a:pPr>
                      <a:r>
                        <a:rPr lang="en-GB" sz="1400" b="0" dirty="0">
                          <a:effectLst/>
                          <a:latin typeface="Arial" panose="020B0604020202020204" pitchFamily="34" charset="0"/>
                          <a:cs typeface="Arial" panose="020B0604020202020204" pitchFamily="34" charset="0"/>
                        </a:rPr>
                        <a:t>Participación/</a:t>
                      </a:r>
                      <a:r>
                        <a:rPr lang="en-GB" sz="1400" b="0" dirty="0" err="1">
                          <a:effectLst/>
                          <a:latin typeface="Arial" panose="020B0604020202020204" pitchFamily="34" charset="0"/>
                          <a:cs typeface="Arial" panose="020B0604020202020204" pitchFamily="34" charset="0"/>
                        </a:rPr>
                        <a:t>Colaboración</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bg2"/>
                    </a:solidFill>
                  </a:tcPr>
                </a:tc>
                <a:tc>
                  <a:txBody>
                    <a:bodyPr/>
                    <a:lstStyle/>
                    <a:p>
                      <a:pPr algn="ctr">
                        <a:spcAft>
                          <a:spcPts val="0"/>
                        </a:spcAft>
                      </a:pPr>
                      <a:r>
                        <a:rPr lang="en-GB" sz="1400" b="0" dirty="0">
                          <a:effectLst/>
                          <a:latin typeface="Arial" panose="020B0604020202020204" pitchFamily="34" charset="0"/>
                          <a:cs typeface="Arial" panose="020B0604020202020204" pitchFamily="34" charset="0"/>
                        </a:rPr>
                        <a:t>1 Proyecto</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bg2"/>
                    </a:solidFill>
                  </a:tcPr>
                </a:tc>
                <a:extLst>
                  <a:ext uri="{0D108BD9-81ED-4DB2-BD59-A6C34878D82A}">
                    <a16:rowId xmlns:a16="http://schemas.microsoft.com/office/drawing/2014/main" val="3176849461"/>
                  </a:ext>
                </a:extLst>
              </a:tr>
              <a:tr h="328283">
                <a:tc>
                  <a:txBody>
                    <a:bodyPr/>
                    <a:lstStyle/>
                    <a:p>
                      <a:pPr>
                        <a:spcAft>
                          <a:spcPts val="0"/>
                        </a:spcAft>
                      </a:pPr>
                      <a:r>
                        <a:rPr lang="en-GB" sz="1400" b="0" dirty="0" err="1">
                          <a:effectLst/>
                          <a:latin typeface="Arial" panose="020B0604020202020204" pitchFamily="34" charset="0"/>
                          <a:cs typeface="Arial" panose="020B0604020202020204" pitchFamily="34" charset="0"/>
                        </a:rPr>
                        <a:t>Congresos</a:t>
                      </a:r>
                      <a:r>
                        <a:rPr lang="en-GB" sz="1400" b="0" dirty="0">
                          <a:effectLst/>
                          <a:latin typeface="Arial" panose="020B0604020202020204" pitchFamily="34" charset="0"/>
                          <a:cs typeface="Arial" panose="020B0604020202020204" pitchFamily="34" charset="0"/>
                        </a:rPr>
                        <a:t>/Workshops</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algn="just">
                        <a:spcAft>
                          <a:spcPts val="0"/>
                        </a:spcAft>
                      </a:pPr>
                      <a:r>
                        <a:rPr lang="en-GB" sz="1400" b="0" dirty="0">
                          <a:effectLst/>
                          <a:latin typeface="Arial" panose="020B0604020202020204" pitchFamily="34" charset="0"/>
                          <a:cs typeface="Arial" panose="020B0604020202020204" pitchFamily="34" charset="0"/>
                        </a:rPr>
                        <a:t xml:space="preserve">Participación </a:t>
                      </a:r>
                      <a:r>
                        <a:rPr lang="en-GB" sz="1400" b="0" dirty="0" err="1">
                          <a:effectLst/>
                          <a:latin typeface="Arial" panose="020B0604020202020204" pitchFamily="34" charset="0"/>
                          <a:cs typeface="Arial" panose="020B0604020202020204" pitchFamily="34" charset="0"/>
                        </a:rPr>
                        <a:t>activa</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bg2"/>
                    </a:solidFill>
                  </a:tcPr>
                </a:tc>
                <a:tc>
                  <a:txBody>
                    <a:bodyPr/>
                    <a:lstStyle/>
                    <a:p>
                      <a:pPr algn="ctr">
                        <a:spcAft>
                          <a:spcPts val="0"/>
                        </a:spcAft>
                      </a:pPr>
                      <a:r>
                        <a:rPr lang="en-GB" sz="1400" b="0" dirty="0">
                          <a:effectLst/>
                          <a:latin typeface="Arial" panose="020B0604020202020204" pitchFamily="34" charset="0"/>
                          <a:cs typeface="Arial" panose="020B0604020202020204" pitchFamily="34" charset="0"/>
                        </a:rPr>
                        <a:t xml:space="preserve">6 </a:t>
                      </a:r>
                      <a:r>
                        <a:rPr lang="en-GB" sz="1400" b="0" dirty="0" err="1">
                          <a:effectLst/>
                          <a:latin typeface="Arial" panose="020B0604020202020204" pitchFamily="34" charset="0"/>
                          <a:cs typeface="Arial" panose="020B0604020202020204" pitchFamily="34" charset="0"/>
                        </a:rPr>
                        <a:t>Presentaciones</a:t>
                      </a:r>
                      <a:r>
                        <a:rPr lang="en-GB" sz="1400" b="0" dirty="0">
                          <a:effectLst/>
                          <a:latin typeface="Arial" panose="020B0604020202020204" pitchFamily="34" charset="0"/>
                          <a:cs typeface="Arial" panose="020B0604020202020204" pitchFamily="34" charset="0"/>
                        </a:rPr>
                        <a:t xml:space="preserve"> </a:t>
                      </a:r>
                      <a:r>
                        <a:rPr lang="en-GB" sz="1400" b="0" dirty="0" err="1">
                          <a:effectLst/>
                          <a:latin typeface="Arial" panose="020B0604020202020204" pitchFamily="34" charset="0"/>
                          <a:cs typeface="Arial" panose="020B0604020202020204" pitchFamily="34" charset="0"/>
                        </a:rPr>
                        <a:t>orales</a:t>
                      </a:r>
                      <a:r>
                        <a:rPr lang="en-GB" sz="1400" b="0" dirty="0">
                          <a:effectLst/>
                          <a:latin typeface="Arial" panose="020B0604020202020204" pitchFamily="34" charset="0"/>
                          <a:cs typeface="Arial" panose="020B0604020202020204" pitchFamily="34" charset="0"/>
                        </a:rPr>
                        <a:t xml:space="preserve"> (</a:t>
                      </a:r>
                      <a:r>
                        <a:rPr lang="en-GB" sz="1400" b="0" dirty="0" err="1">
                          <a:effectLst/>
                          <a:latin typeface="Arial" panose="020B0604020202020204" pitchFamily="34" charset="0"/>
                          <a:cs typeface="Arial" panose="020B0604020202020204" pitchFamily="34" charset="0"/>
                        </a:rPr>
                        <a:t>nac</a:t>
                      </a:r>
                      <a:r>
                        <a:rPr lang="en-GB" sz="1400" b="0" dirty="0">
                          <a:effectLst/>
                          <a:latin typeface="Arial" panose="020B0604020202020204" pitchFamily="34" charset="0"/>
                          <a:cs typeface="Arial" panose="020B0604020202020204" pitchFamily="34" charset="0"/>
                        </a:rPr>
                        <a:t>/int)</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bg2"/>
                    </a:solidFill>
                  </a:tcPr>
                </a:tc>
                <a:extLst>
                  <a:ext uri="{0D108BD9-81ED-4DB2-BD59-A6C34878D82A}">
                    <a16:rowId xmlns:a16="http://schemas.microsoft.com/office/drawing/2014/main" val="2190178051"/>
                  </a:ext>
                </a:extLst>
              </a:tr>
              <a:tr h="460786">
                <a:tc>
                  <a:txBody>
                    <a:bodyPr/>
                    <a:lstStyle/>
                    <a:p>
                      <a:pPr>
                        <a:spcAft>
                          <a:spcPts val="0"/>
                        </a:spcAft>
                      </a:pPr>
                      <a:r>
                        <a:rPr lang="en-GB" sz="1400" b="0" dirty="0" err="1">
                          <a:effectLst/>
                          <a:latin typeface="Arial" panose="020B0604020202020204" pitchFamily="34" charset="0"/>
                          <a:cs typeface="Arial" panose="020B0604020202020204" pitchFamily="34" charset="0"/>
                        </a:rPr>
                        <a:t>Artículos</a:t>
                      </a:r>
                      <a:r>
                        <a:rPr lang="en-GB" sz="1400" b="0" dirty="0">
                          <a:effectLst/>
                          <a:latin typeface="Arial" panose="020B0604020202020204" pitchFamily="34" charset="0"/>
                          <a:cs typeface="Arial" panose="020B0604020202020204" pitchFamily="34" charset="0"/>
                        </a:rPr>
                        <a:t xml:space="preserve"> </a:t>
                      </a:r>
                      <a:r>
                        <a:rPr lang="en-GB" sz="1400" b="0" dirty="0" err="1">
                          <a:effectLst/>
                          <a:latin typeface="Arial" panose="020B0604020202020204" pitchFamily="34" charset="0"/>
                          <a:cs typeface="Arial" panose="020B0604020202020204" pitchFamily="34" charset="0"/>
                        </a:rPr>
                        <a:t>indexados</a:t>
                      </a:r>
                      <a:r>
                        <a:rPr lang="en-GB" sz="1400" b="0" baseline="0" dirty="0">
                          <a:effectLst/>
                          <a:latin typeface="Arial" panose="020B0604020202020204" pitchFamily="34" charset="0"/>
                          <a:cs typeface="Arial" panose="020B0604020202020204" pitchFamily="34" charset="0"/>
                        </a:rPr>
                        <a:t xml:space="preserve"> (SCI)</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algn="just">
                        <a:spcAft>
                          <a:spcPts val="0"/>
                        </a:spcAft>
                      </a:pPr>
                      <a:r>
                        <a:rPr lang="en-GB" sz="1400" b="0" dirty="0" err="1">
                          <a:effectLst/>
                          <a:latin typeface="Arial" panose="020B0604020202020204" pitchFamily="34" charset="0"/>
                          <a:cs typeface="Arial" panose="020B0604020202020204" pitchFamily="34" charset="0"/>
                        </a:rPr>
                        <a:t>Redacción</a:t>
                      </a:r>
                      <a:r>
                        <a:rPr lang="en-GB" sz="1400" b="0" dirty="0">
                          <a:effectLst/>
                          <a:latin typeface="Arial" panose="020B0604020202020204" pitchFamily="34" charset="0"/>
                          <a:cs typeface="Arial" panose="020B0604020202020204" pitchFamily="34" charset="0"/>
                        </a:rPr>
                        <a:t xml:space="preserve"> y </a:t>
                      </a:r>
                      <a:r>
                        <a:rPr lang="en-GB" sz="1400" b="0" dirty="0" err="1">
                          <a:effectLst/>
                          <a:latin typeface="Arial" panose="020B0604020202020204" pitchFamily="34" charset="0"/>
                          <a:cs typeface="Arial" panose="020B0604020202020204" pitchFamily="34" charset="0"/>
                        </a:rPr>
                        <a:t>publicación</a:t>
                      </a:r>
                      <a:r>
                        <a:rPr lang="en-GB" sz="1400" b="0" dirty="0">
                          <a:effectLst/>
                          <a:latin typeface="Arial" panose="020B0604020202020204" pitchFamily="34" charset="0"/>
                          <a:cs typeface="Arial" panose="020B0604020202020204" pitchFamily="34" charset="0"/>
                        </a:rPr>
                        <a:t xml:space="preserve"> de </a:t>
                      </a:r>
                      <a:r>
                        <a:rPr lang="en-GB" sz="1400" b="0" dirty="0" err="1">
                          <a:effectLst/>
                          <a:latin typeface="Arial" panose="020B0604020202020204" pitchFamily="34" charset="0"/>
                          <a:cs typeface="Arial" panose="020B0604020202020204" pitchFamily="34" charset="0"/>
                        </a:rPr>
                        <a:t>artículos</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bg2"/>
                    </a:solidFill>
                  </a:tcPr>
                </a:tc>
                <a:tc>
                  <a:txBody>
                    <a:bodyPr/>
                    <a:lstStyle/>
                    <a:p>
                      <a:pPr algn="ctr">
                        <a:spcAft>
                          <a:spcPts val="0"/>
                        </a:spcAft>
                      </a:pPr>
                      <a:r>
                        <a:rPr lang="en-GB" sz="1400" b="0" dirty="0">
                          <a:effectLst/>
                          <a:latin typeface="Arial" panose="020B0604020202020204" pitchFamily="34" charset="0"/>
                          <a:cs typeface="Arial" panose="020B0604020202020204" pitchFamily="34" charset="0"/>
                        </a:rPr>
                        <a:t>3 SCI publicados</a:t>
                      </a:r>
                    </a:p>
                    <a:p>
                      <a:pPr algn="ctr">
                        <a:spcAft>
                          <a:spcPts val="0"/>
                        </a:spcAft>
                      </a:pPr>
                      <a:r>
                        <a:rPr lang="en-GB" sz="1400" b="0" dirty="0">
                          <a:effectLst/>
                          <a:latin typeface="Arial" panose="020B0604020202020204" pitchFamily="34" charset="0"/>
                          <a:cs typeface="Arial" panose="020B0604020202020204" pitchFamily="34" charset="0"/>
                        </a:rPr>
                        <a:t>(+ 3 enviados)</a:t>
                      </a:r>
                    </a:p>
                  </a:txBody>
                  <a:tcPr marL="68580" marR="68580" marT="0" marB="0" anchor="ctr">
                    <a:solidFill>
                      <a:schemeClr val="bg2"/>
                    </a:solidFill>
                  </a:tcPr>
                </a:tc>
                <a:extLst>
                  <a:ext uri="{0D108BD9-81ED-4DB2-BD59-A6C34878D82A}">
                    <a16:rowId xmlns:a16="http://schemas.microsoft.com/office/drawing/2014/main" val="3203060041"/>
                  </a:ext>
                </a:extLst>
              </a:tr>
              <a:tr h="493059">
                <a:tc>
                  <a:txBody>
                    <a:bodyPr/>
                    <a:lstStyle/>
                    <a:p>
                      <a:pPr>
                        <a:spcAft>
                          <a:spcPts val="0"/>
                        </a:spcAft>
                      </a:pPr>
                      <a:r>
                        <a:rPr lang="en-GB" sz="1400" b="0" dirty="0" err="1">
                          <a:effectLst/>
                          <a:latin typeface="Arial" panose="020B0604020202020204" pitchFamily="34" charset="0"/>
                          <a:cs typeface="Arial" panose="020B0604020202020204" pitchFamily="34" charset="0"/>
                        </a:rPr>
                        <a:t>Visitas</a:t>
                      </a:r>
                      <a:r>
                        <a:rPr lang="en-GB" sz="1400" b="0" dirty="0">
                          <a:effectLst/>
                          <a:latin typeface="Arial" panose="020B0604020202020204" pitchFamily="34" charset="0"/>
                          <a:cs typeface="Arial" panose="020B0604020202020204" pitchFamily="34" charset="0"/>
                        </a:rPr>
                        <a:t xml:space="preserve"> </a:t>
                      </a:r>
                      <a:r>
                        <a:rPr lang="en-GB" sz="1400" b="0" dirty="0" err="1">
                          <a:effectLst/>
                          <a:latin typeface="Arial" panose="020B0604020202020204" pitchFamily="34" charset="0"/>
                          <a:cs typeface="Arial" panose="020B0604020202020204" pitchFamily="34" charset="0"/>
                        </a:rPr>
                        <a:t>cortas</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algn="just">
                        <a:spcAft>
                          <a:spcPts val="0"/>
                        </a:spcAft>
                      </a:pPr>
                      <a:r>
                        <a:rPr lang="en-GB" sz="1400" b="0" dirty="0" err="1">
                          <a:effectLst/>
                          <a:latin typeface="Arial" panose="020B0604020202020204" pitchFamily="34" charset="0"/>
                          <a:cs typeface="Arial" panose="020B0604020202020204" pitchFamily="34" charset="0"/>
                        </a:rPr>
                        <a:t>Visitas</a:t>
                      </a:r>
                      <a:r>
                        <a:rPr lang="en-GB" sz="1400" b="0" dirty="0">
                          <a:effectLst/>
                          <a:latin typeface="Arial" panose="020B0604020202020204" pitchFamily="34" charset="0"/>
                          <a:cs typeface="Arial" panose="020B0604020202020204" pitchFamily="34" charset="0"/>
                        </a:rPr>
                        <a:t xml:space="preserve"> </a:t>
                      </a:r>
                      <a:r>
                        <a:rPr lang="en-GB" sz="1400" b="0" dirty="0" err="1">
                          <a:effectLst/>
                          <a:latin typeface="Arial" panose="020B0604020202020204" pitchFamily="34" charset="0"/>
                          <a:cs typeface="Arial" panose="020B0604020202020204" pitchFamily="34" charset="0"/>
                        </a:rPr>
                        <a:t>cortas</a:t>
                      </a:r>
                      <a:r>
                        <a:rPr lang="en-GB" sz="1400" b="0" dirty="0">
                          <a:effectLst/>
                          <a:latin typeface="Arial" panose="020B0604020202020204" pitchFamily="34" charset="0"/>
                          <a:cs typeface="Arial" panose="020B0604020202020204" pitchFamily="34" charset="0"/>
                        </a:rPr>
                        <a:t>/Summer courses…</a:t>
                      </a:r>
                    </a:p>
                  </a:txBody>
                  <a:tcPr marL="68580" marR="68580" marT="0" marB="0" anchor="ctr">
                    <a:solidFill>
                      <a:schemeClr val="bg2"/>
                    </a:solidFill>
                  </a:tcPr>
                </a:tc>
                <a:tc>
                  <a:txBody>
                    <a:bodyPr/>
                    <a:lstStyle/>
                    <a:p>
                      <a:pPr algn="ctr">
                        <a:spcAft>
                          <a:spcPts val="0"/>
                        </a:spcAft>
                      </a:pPr>
                      <a:r>
                        <a:rPr lang="en-GB" sz="1400" b="0" dirty="0">
                          <a:effectLst/>
                          <a:latin typeface="Arial" panose="020B0604020202020204" pitchFamily="34" charset="0"/>
                          <a:cs typeface="Arial" panose="020B0604020202020204" pitchFamily="34" charset="0"/>
                        </a:rPr>
                        <a:t xml:space="preserve">1 </a:t>
                      </a:r>
                      <a:r>
                        <a:rPr lang="en-GB" sz="1400" b="0" dirty="0" err="1">
                          <a:effectLst/>
                          <a:latin typeface="Arial" panose="020B0604020202020204" pitchFamily="34" charset="0"/>
                          <a:cs typeface="Arial" panose="020B0604020202020204" pitchFamily="34" charset="0"/>
                        </a:rPr>
                        <a:t>semana</a:t>
                      </a:r>
                      <a:r>
                        <a:rPr lang="en-GB" sz="1400" b="0" dirty="0">
                          <a:effectLst/>
                          <a:latin typeface="Arial" panose="020B0604020202020204" pitchFamily="34" charset="0"/>
                          <a:cs typeface="Arial" panose="020B0604020202020204" pitchFamily="34" charset="0"/>
                        </a:rPr>
                        <a:t xml:space="preserve"> (min)</a:t>
                      </a:r>
                    </a:p>
                  </a:txBody>
                  <a:tcPr marL="68580" marR="68580" marT="0" marB="0" anchor="ctr">
                    <a:solidFill>
                      <a:schemeClr val="bg2"/>
                    </a:solidFill>
                  </a:tcPr>
                </a:tc>
                <a:extLst>
                  <a:ext uri="{0D108BD9-81ED-4DB2-BD59-A6C34878D82A}">
                    <a16:rowId xmlns:a16="http://schemas.microsoft.com/office/drawing/2014/main" val="166687330"/>
                  </a:ext>
                </a:extLst>
              </a:tr>
              <a:tr h="595056">
                <a:tc>
                  <a:txBody>
                    <a:bodyPr/>
                    <a:lstStyle/>
                    <a:p>
                      <a:pPr>
                        <a:spcAft>
                          <a:spcPts val="0"/>
                        </a:spcAft>
                      </a:pPr>
                      <a:r>
                        <a:rPr lang="en-GB" sz="1400" b="0" dirty="0">
                          <a:effectLst/>
                          <a:latin typeface="Arial" panose="020B0604020202020204" pitchFamily="34" charset="0"/>
                          <a:cs typeface="Arial" panose="020B0604020202020204" pitchFamily="34" charset="0"/>
                        </a:rPr>
                        <a:t xml:space="preserve">Estancias </a:t>
                      </a:r>
                      <a:r>
                        <a:rPr lang="en-GB" sz="1400" b="0" dirty="0" err="1">
                          <a:effectLst/>
                          <a:latin typeface="Arial" panose="020B0604020202020204" pitchFamily="34" charset="0"/>
                          <a:cs typeface="Arial" panose="020B0604020202020204" pitchFamily="34" charset="0"/>
                        </a:rPr>
                        <a:t>internacionales</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tc>
                <a:tc>
                  <a:txBody>
                    <a:bodyPr/>
                    <a:lstStyle/>
                    <a:p>
                      <a:pPr algn="just">
                        <a:spcAft>
                          <a:spcPts val="0"/>
                        </a:spcAft>
                      </a:pPr>
                      <a:r>
                        <a:rPr lang="es-ES" sz="1400" b="0" dirty="0">
                          <a:effectLst/>
                          <a:latin typeface="Arial" panose="020B0604020202020204" pitchFamily="34" charset="0"/>
                          <a:ea typeface="Times New Roman" panose="02020603050405020304" pitchFamily="18" charset="0"/>
                          <a:cs typeface="Arial" panose="020B0604020202020204" pitchFamily="34" charset="0"/>
                        </a:rPr>
                        <a:t>Estancias en universidades o centros de investigación fuera de España</a:t>
                      </a:r>
                    </a:p>
                  </a:txBody>
                  <a:tcPr marL="68580" marR="68580" marT="0" marB="0" anchor="ctr">
                    <a:solidFill>
                      <a:schemeClr val="bg2"/>
                    </a:solidFill>
                  </a:tcPr>
                </a:tc>
                <a:tc>
                  <a:txBody>
                    <a:bodyPr/>
                    <a:lstStyle/>
                    <a:p>
                      <a:pPr algn="just">
                        <a:spcAft>
                          <a:spcPts val="0"/>
                        </a:spcAft>
                      </a:pPr>
                      <a:r>
                        <a:rPr lang="es-ES" sz="1400" b="0" dirty="0">
                          <a:effectLst/>
                          <a:latin typeface="Arial" panose="020B0604020202020204" pitchFamily="34" charset="0"/>
                          <a:ea typeface="Times New Roman" panose="02020603050405020304" pitchFamily="18" charset="0"/>
                          <a:cs typeface="Arial" panose="020B0604020202020204" pitchFamily="34" charset="0"/>
                        </a:rPr>
                        <a:t>3 meses</a:t>
                      </a:r>
                      <a:r>
                        <a:rPr lang="es-ES" sz="1400" b="0" baseline="0" dirty="0">
                          <a:effectLst/>
                          <a:latin typeface="Arial" panose="020B0604020202020204" pitchFamily="34" charset="0"/>
                          <a:ea typeface="Times New Roman" panose="02020603050405020304" pitchFamily="18" charset="0"/>
                          <a:cs typeface="Arial" panose="020B0604020202020204" pitchFamily="34" charset="0"/>
                        </a:rPr>
                        <a:t xml:space="preserve"> (min)*</a:t>
                      </a:r>
                    </a:p>
                    <a:p>
                      <a:pPr algn="just">
                        <a:spcAft>
                          <a:spcPts val="0"/>
                        </a:spcAft>
                      </a:pPr>
                      <a:r>
                        <a:rPr lang="es-ES" sz="1200" b="0" baseline="0" dirty="0">
                          <a:effectLst/>
                          <a:latin typeface="Arial" panose="020B0604020202020204" pitchFamily="34" charset="0"/>
                          <a:ea typeface="Times New Roman" panose="02020603050405020304" pitchFamily="18" charset="0"/>
                          <a:cs typeface="Arial" panose="020B0604020202020204" pitchFamily="34" charset="0"/>
                        </a:rPr>
                        <a:t>(Estancias mínimas de 1 mes)</a:t>
                      </a:r>
                      <a:endParaRPr lang="es-E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solidFill>
                      <a:schemeClr val="bg2"/>
                    </a:solidFill>
                  </a:tcPr>
                </a:tc>
                <a:extLst>
                  <a:ext uri="{0D108BD9-81ED-4DB2-BD59-A6C34878D82A}">
                    <a16:rowId xmlns:a16="http://schemas.microsoft.com/office/drawing/2014/main" val="856091903"/>
                  </a:ext>
                </a:extLst>
              </a:tr>
              <a:tr h="780372">
                <a:tc>
                  <a:txBody>
                    <a:bodyPr/>
                    <a:lstStyle/>
                    <a:p>
                      <a:pPr>
                        <a:spcAft>
                          <a:spcPts val="0"/>
                        </a:spcAft>
                      </a:pPr>
                      <a:r>
                        <a:rPr lang="es-ES" sz="1400" b="0" dirty="0">
                          <a:effectLst/>
                          <a:latin typeface="Arial" panose="020B0604020202020204" pitchFamily="34" charset="0"/>
                          <a:ea typeface="Times New Roman" panose="02020603050405020304" pitchFamily="18" charset="0"/>
                          <a:cs typeface="Arial" panose="020B0604020202020204" pitchFamily="34" charset="0"/>
                        </a:rPr>
                        <a:t>Actividades de divulgación</a:t>
                      </a:r>
                    </a:p>
                  </a:txBody>
                  <a:tcPr marL="68580" marR="68580" marT="0" marB="0" anchor="ctr"/>
                </a:tc>
                <a:tc>
                  <a:txBody>
                    <a:bodyPr/>
                    <a:lstStyle/>
                    <a:p>
                      <a:pPr algn="just">
                        <a:spcAft>
                          <a:spcPts val="0"/>
                        </a:spcAft>
                      </a:pPr>
                      <a:r>
                        <a:rPr lang="es-ES" sz="1400" b="0" dirty="0">
                          <a:effectLst/>
                          <a:latin typeface="Arial" panose="020B0604020202020204" pitchFamily="34" charset="0"/>
                          <a:ea typeface="Times New Roman" panose="02020603050405020304" pitchFamily="18" charset="0"/>
                          <a:cs typeface="Arial" panose="020B0604020202020204" pitchFamily="34" charset="0"/>
                        </a:rPr>
                        <a:t>Participación activa (</a:t>
                      </a:r>
                      <a:r>
                        <a:rPr lang="es-ES" sz="1400" b="0" dirty="0" err="1">
                          <a:effectLst/>
                          <a:latin typeface="Arial" panose="020B0604020202020204" pitchFamily="34" charset="0"/>
                          <a:ea typeface="Times New Roman" panose="02020603050405020304" pitchFamily="18" charset="0"/>
                          <a:cs typeface="Arial" panose="020B0604020202020204" pitchFamily="34" charset="0"/>
                        </a:rPr>
                        <a:t>e.g</a:t>
                      </a:r>
                      <a:r>
                        <a:rPr lang="es-ES" sz="1400" b="0" dirty="0">
                          <a:effectLst/>
                          <a:latin typeface="Arial" panose="020B0604020202020204" pitchFamily="34" charset="0"/>
                          <a:ea typeface="Times New Roman" panose="02020603050405020304" pitchFamily="18" charset="0"/>
                          <a:cs typeface="Arial" panose="020B0604020202020204" pitchFamily="34" charset="0"/>
                        </a:rPr>
                        <a:t xml:space="preserve">. Noche Europea de los investigadores/as, </a:t>
                      </a:r>
                      <a:r>
                        <a:rPr lang="es-ES" sz="1400" b="0" dirty="0" err="1">
                          <a:effectLst/>
                          <a:latin typeface="Arial" panose="020B0604020202020204" pitchFamily="34" charset="0"/>
                          <a:ea typeface="Times New Roman" panose="02020603050405020304" pitchFamily="18" charset="0"/>
                          <a:cs typeface="Arial" panose="020B0604020202020204" pitchFamily="34" charset="0"/>
                        </a:rPr>
                        <a:t>Pint</a:t>
                      </a:r>
                      <a:r>
                        <a:rPr lang="es-ES" sz="1400" b="0" dirty="0">
                          <a:effectLst/>
                          <a:latin typeface="Arial" panose="020B0604020202020204" pitchFamily="34" charset="0"/>
                          <a:ea typeface="Times New Roman" panose="02020603050405020304" pitchFamily="18" charset="0"/>
                          <a:cs typeface="Arial" panose="020B0604020202020204" pitchFamily="34" charset="0"/>
                        </a:rPr>
                        <a:t xml:space="preserve"> of Science)</a:t>
                      </a:r>
                    </a:p>
                  </a:txBody>
                  <a:tcPr marL="68580" marR="68580" marT="0" marB="0" anchor="ctr">
                    <a:solidFill>
                      <a:schemeClr val="bg2"/>
                    </a:solidFill>
                  </a:tcPr>
                </a:tc>
                <a:tc>
                  <a:txBody>
                    <a:bodyPr/>
                    <a:lstStyle/>
                    <a:p>
                      <a:pPr algn="ctr">
                        <a:spcAft>
                          <a:spcPts val="0"/>
                        </a:spcAft>
                      </a:pPr>
                      <a:r>
                        <a:rPr lang="es-ES" sz="1400" b="0" dirty="0">
                          <a:effectLst/>
                          <a:latin typeface="Arial" panose="020B0604020202020204" pitchFamily="34" charset="0"/>
                          <a:ea typeface="Times New Roman" panose="02020603050405020304" pitchFamily="18" charset="0"/>
                          <a:cs typeface="Arial" panose="020B0604020202020204" pitchFamily="34" charset="0"/>
                        </a:rPr>
                        <a:t>2 actividades</a:t>
                      </a:r>
                    </a:p>
                  </a:txBody>
                  <a:tcPr marL="68580" marR="68580" marT="0" marB="0" anchor="ctr">
                    <a:solidFill>
                      <a:schemeClr val="bg2"/>
                    </a:solidFill>
                  </a:tcPr>
                </a:tc>
                <a:extLst>
                  <a:ext uri="{0D108BD9-81ED-4DB2-BD59-A6C34878D82A}">
                    <a16:rowId xmlns:a16="http://schemas.microsoft.com/office/drawing/2014/main" val="658572163"/>
                  </a:ext>
                </a:extLst>
              </a:tr>
            </a:tbl>
          </a:graphicData>
        </a:graphic>
      </p:graphicFrame>
    </p:spTree>
    <p:extLst>
      <p:ext uri="{BB962C8B-B14F-4D97-AF65-F5344CB8AC3E}">
        <p14:creationId xmlns:p14="http://schemas.microsoft.com/office/powerpoint/2010/main" val="3211225868"/>
      </p:ext>
    </p:extLst>
  </p:cSld>
  <p:clrMapOvr>
    <a:masterClrMapping/>
  </p:clrMapOvr>
</p:sld>
</file>

<file path=ppt/theme/theme1.xml><?xml version="1.0" encoding="utf-8"?>
<a:theme xmlns:a="http://schemas.openxmlformats.org/drawingml/2006/main" name="Diseños de guion gráfic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1 (2) [solo lectura]" id="{E0582B28-FF58-473F-971C-163A3457C493}" vid="{AEAC1674-112A-4610-AB8F-709C8CA9557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_rels/item4.xml.rels><?xml version="1.0" encoding="UTF-8"?><Relationships xmlns="http://schemas.openxmlformats.org/package/2006/relationships"><Relationship Id="rId1" Type="http://schemas.openxmlformats.org/officeDocument/2006/relationships/customXmlProps" Target="itemProps4.xml"/></Relationships>
</file>

<file path=customXml/_rels/item5.xml.rels><?xml version="1.0" encoding="UTF-8"?><Relationships xmlns="http://schemas.openxmlformats.org/package/2006/relationships"><Relationship Id="rId1" Type="http://schemas.openxmlformats.org/officeDocument/2006/relationships/customXmlProps" Target="itemProps5.xml"/></Relationships>
</file>

<file path=customXml/_rels/item6.xml.rels><?xml version="1.0" encoding="UTF-8"?><Relationships xmlns="http://schemas.openxmlformats.org/package/2006/relationships"><Relationship Id="rId1" Type="http://schemas.openxmlformats.org/officeDocument/2006/relationships/customXmlProps" Target="itemProps6.xml"/></Relationships>
</file>

<file path=customXml/_rels/item7.xml.rels><?xml version="1.0" encoding="UTF-8"?><Relationships xmlns="http://schemas.openxmlformats.org/package/2006/relationships"><Relationship Id="rId1" Type="http://schemas.openxmlformats.org/officeDocument/2006/relationships/customXmlProps" Target="itemProps7.xml"/></Relationships>
</file>

<file path=customXml/_rels/item8.xml.rels><?xml version="1.0" encoding="UTF-8"?><Relationships xmlns="http://schemas.openxmlformats.org/package/2006/relationships"><Relationship Id="rId1" Type="http://schemas.openxmlformats.org/officeDocument/2006/relationships/customXmlProps" Target="itemProps8.xml"/></Relationships>
</file>

<file path=customXml/item1.xml><?xml version="1.0" encoding="utf-8"?>
<Control xmlns="http://schemas.microsoft.com/VisualStudio/2011/storyboarding/control">
  <Id Name="8edd9a2a-1bf8-403a-b59a-46d387fa096e" Revision="1" Stencil="System.MyShapes" StencilVersion="1.0"/>
</Control>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ontrol xmlns="http://schemas.microsoft.com/VisualStudio/2011/storyboarding/control">
  <Id Name="0e84b4df-9d12-42b1-aa79-6f1a5f98ab11" Revision="1" Stencil="System.MyShapes" StencilVersion="1.0"/>
</Control>
</file>

<file path=customXml/item4.xml><?xml version="1.0" encoding="utf-8"?>
<Control xmlns="http://schemas.microsoft.com/VisualStudio/2011/storyboarding/control">
  <Id Name="8edd9a2a-1bf8-403a-b59a-46d387fa096e" Revision="1" Stencil="System.MyShapes" StencilVersion="1.0"/>
</Control>
</file>

<file path=customXml/item5.xml><?xml version="1.0" encoding="utf-8"?>
<p:properties xmlns:p="http://schemas.microsoft.com/office/2006/metadata/properties" xmlns:xsi="http://www.w3.org/2001/XMLSchema-instance" xmlns:pc="http://schemas.microsoft.com/office/infopath/2007/PartnerControls">
  <documentManagement>
    <TaxCatchAll xmlns="8d425d0b-03de-4ec8-be55-9de41c2ca6e3" xsi:nil="true"/>
    <lcf76f155ced4ddcb4097134ff3c332f xmlns="72c5712f-2376-4d2b-bd41-6a326b9968bb">
      <Terms xmlns="http://schemas.microsoft.com/office/infopath/2007/PartnerControls"/>
    </lcf76f155ced4ddcb4097134ff3c332f>
    <SharedWithUsers xmlns="8d425d0b-03de-4ec8-be55-9de41c2ca6e3">
      <UserInfo>
        <DisplayName/>
        <AccountId xsi:nil="true"/>
        <AccountType/>
      </UserInfo>
    </SharedWithUsers>
  </documentManagement>
</p:properties>
</file>

<file path=customXml/item6.xml><?xml version="1.0" encoding="utf-8"?>
<ct:contentTypeSchema xmlns:ct="http://schemas.microsoft.com/office/2006/metadata/contentType" xmlns:ma="http://schemas.microsoft.com/office/2006/metadata/properties/metaAttributes" ct:_="" ma:_="" ma:contentTypeName="Documento" ma:contentTypeID="0x010100503D3AE70C113D4BAB629AF6E45AE7D8" ma:contentTypeVersion="18" ma:contentTypeDescription="Crear nuevo documento." ma:contentTypeScope="" ma:versionID="6607c43ad324203ab5e104fbd8a43873">
  <xsd:schema xmlns:xsd="http://www.w3.org/2001/XMLSchema" xmlns:xs="http://www.w3.org/2001/XMLSchema" xmlns:p="http://schemas.microsoft.com/office/2006/metadata/properties" xmlns:ns2="8d425d0b-03de-4ec8-be55-9de41c2ca6e3" xmlns:ns3="72c5712f-2376-4d2b-bd41-6a326b9968bb" targetNamespace="http://schemas.microsoft.com/office/2006/metadata/properties" ma:root="true" ma:fieldsID="11848224f850edb785b91311161864a0" ns2:_="" ns3:_="">
    <xsd:import namespace="8d425d0b-03de-4ec8-be55-9de41c2ca6e3"/>
    <xsd:import namespace="72c5712f-2376-4d2b-bd41-6a326b9968b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lcf76f155ced4ddcb4097134ff3c332f" minOccurs="0"/>
                <xsd:element ref="ns2:TaxCatchAll" minOccurs="0"/>
                <xsd:element ref="ns3:MediaServiceObjectDetectorVersions" minOccurs="0"/>
                <xsd:element ref="ns3:MediaLengthInSecond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425d0b-03de-4ec8-be55-9de41c2ca6e3"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1" nillable="true" ma:displayName="Taxonomy Catch All Column" ma:hidden="true" ma:list="{9ea89542-2c04-465c-8e0d-daf616a2afb9}" ma:internalName="TaxCatchAll" ma:showField="CatchAllData" ma:web="8d425d0b-03de-4ec8-be55-9de41c2ca6e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2c5712f-2376-4d2b-bd41-6a326b9968b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MediaServiceAutoTags" ma:internalName="MediaServiceAutoTags" ma:readOnly="true">
      <xsd:simpleType>
        <xsd:restriction base="dms:Text"/>
      </xsd:simpleType>
    </xsd:element>
    <xsd:element name="MediaServiceOCR" ma:index="13" nillable="true" ma:displayName="MediaServiceOCR"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lcf76f155ced4ddcb4097134ff3c332f" ma:index="20" nillable="true" ma:taxonomy="true" ma:internalName="lcf76f155ced4ddcb4097134ff3c332f" ma:taxonomyFieldName="MediaServiceImageTags" ma:displayName="Etiquetas de imagen" ma:readOnly="false" ma:fieldId="{5cf76f15-5ced-4ddc-b409-7134ff3c332f}" ma:taxonomyMulti="true" ma:sspId="cf530a27-4764-4a60-848b-f5605c3e873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7.xml><?xml version="1.0" encoding="utf-8"?>
<Control xmlns="http://schemas.microsoft.com/VisualStudio/2011/storyboarding/control">
  <Id Name="159b5b98-8fd0-4d63-b061-f017a4a31b1c" Revision="1" Stencil="System.MyShapes" StencilVersion="1.0"/>
</Control>
</file>

<file path=customXml/item8.xml><?xml version="1.0" encoding="utf-8"?>
<Control xmlns="http://schemas.microsoft.com/VisualStudio/2011/storyboarding/control">
  <Id Name="ca55f489-06ba-4aa1-a4e2-9d30380b969d" Revision="1" Stencil="System.MyShapes" StencilVersion="1.0"/>
</Control>
</file>

<file path=customXml/itemProps1.xml><?xml version="1.0" encoding="utf-8"?>
<ds:datastoreItem xmlns:ds="http://schemas.openxmlformats.org/officeDocument/2006/customXml" ds:itemID="{CF45FCCD-A1C9-4E10-BD53-4E2A83C65F83}">
  <ds:schemaRefs>
    <ds:schemaRef ds:uri="http://schemas.microsoft.com/VisualStudio/2011/storyboarding/control"/>
  </ds:schemaRefs>
</ds:datastoreItem>
</file>

<file path=customXml/itemProps2.xml><?xml version="1.0" encoding="utf-8"?>
<ds:datastoreItem xmlns:ds="http://schemas.openxmlformats.org/officeDocument/2006/customXml" ds:itemID="{499377FD-262C-425F-90FE-8291984337F0}">
  <ds:schemaRefs>
    <ds:schemaRef ds:uri="http://schemas.microsoft.com/sharepoint/v3/contenttype/forms"/>
  </ds:schemaRefs>
</ds:datastoreItem>
</file>

<file path=customXml/itemProps3.xml><?xml version="1.0" encoding="utf-8"?>
<ds:datastoreItem xmlns:ds="http://schemas.openxmlformats.org/officeDocument/2006/customXml" ds:itemID="{9855FDD5-DA34-466A-954D-C7246D99C0AF}">
  <ds:schemaRefs>
    <ds:schemaRef ds:uri="http://schemas.microsoft.com/VisualStudio/2011/storyboarding/control"/>
  </ds:schemaRefs>
</ds:datastoreItem>
</file>

<file path=customXml/itemProps4.xml><?xml version="1.0" encoding="utf-8"?>
<ds:datastoreItem xmlns:ds="http://schemas.openxmlformats.org/officeDocument/2006/customXml" ds:itemID="{88BF7932-9AD1-4931-A5DD-AEF1821D1675}">
  <ds:schemaRefs>
    <ds:schemaRef ds:uri="http://schemas.microsoft.com/VisualStudio/2011/storyboarding/control"/>
  </ds:schemaRefs>
</ds:datastoreItem>
</file>

<file path=customXml/itemProps5.xml><?xml version="1.0" encoding="utf-8"?>
<ds:datastoreItem xmlns:ds="http://schemas.openxmlformats.org/officeDocument/2006/customXml" ds:itemID="{926A831D-C2DC-4545-A412-37F898887FA3}">
  <ds:schemaRefs>
    <ds:schemaRef ds:uri="http://schemas.microsoft.com/office/2006/metadata/properties"/>
    <ds:schemaRef ds:uri="http://schemas.microsoft.com/office/infopath/2007/PartnerControls"/>
    <ds:schemaRef ds:uri="8d425d0b-03de-4ec8-be55-9de41c2ca6e3"/>
    <ds:schemaRef ds:uri="72c5712f-2376-4d2b-bd41-6a326b9968bb"/>
  </ds:schemaRefs>
</ds:datastoreItem>
</file>

<file path=customXml/itemProps6.xml><?xml version="1.0" encoding="utf-8"?>
<ds:datastoreItem xmlns:ds="http://schemas.openxmlformats.org/officeDocument/2006/customXml" ds:itemID="{362270DA-CE3C-447D-A914-45A2CE914B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d425d0b-03de-4ec8-be55-9de41c2ca6e3"/>
    <ds:schemaRef ds:uri="72c5712f-2376-4d2b-bd41-6a326b9968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7.xml><?xml version="1.0" encoding="utf-8"?>
<ds:datastoreItem xmlns:ds="http://schemas.openxmlformats.org/officeDocument/2006/customXml" ds:itemID="{C23E5B57-C2D0-4BC8-BF3D-A0B788B7D424}">
  <ds:schemaRefs>
    <ds:schemaRef ds:uri="http://schemas.microsoft.com/VisualStudio/2011/storyboarding/control"/>
  </ds:schemaRefs>
</ds:datastoreItem>
</file>

<file path=customXml/itemProps8.xml><?xml version="1.0" encoding="utf-8"?>
<ds:datastoreItem xmlns:ds="http://schemas.openxmlformats.org/officeDocument/2006/customXml" ds:itemID="{7464583E-A4BE-4677-ABEC-F6AF564C1090}">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Modelo ppt Jornadas Doctorado</Template>
  <TotalTime>50</TotalTime>
  <Words>368</Words>
  <Application>Microsoft Macintosh PowerPoint</Application>
  <PresentationFormat>Panorámica</PresentationFormat>
  <Paragraphs>56</Paragraphs>
  <Slides>7</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7</vt:i4>
      </vt:variant>
    </vt:vector>
  </HeadingPairs>
  <TitlesOfParts>
    <vt:vector size="10" baseType="lpstr">
      <vt:lpstr>Arial</vt:lpstr>
      <vt:lpstr>Calibri</vt:lpstr>
      <vt:lpstr>Diseños de guion gráfico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Universidad de Cantabria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Juanes De La Peña, Jose Antonio</dc:creator>
  <cp:lastModifiedBy>Salvador Navas Fernández</cp:lastModifiedBy>
  <cp:revision>9</cp:revision>
  <dcterms:created xsi:type="dcterms:W3CDTF">2015-03-23T17:21:05Z</dcterms:created>
  <dcterms:modified xsi:type="dcterms:W3CDTF">2026-06-22T20:21:56Z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y fmtid="{D5CDD505-2E9C-101B-9397-08002B2CF9AE}" pid="3" name="ContentTypeId">
    <vt:lpwstr>0x010100503D3AE70C113D4BAB629AF6E45AE7D8</vt:lpwstr>
  </property>
  <property fmtid="{D5CDD505-2E9C-101B-9397-08002B2CF9AE}" pid="4" name="Order">
    <vt:r8>32488300</vt:r8>
  </property>
  <property fmtid="{D5CDD505-2E9C-101B-9397-08002B2CF9AE}" pid="5" name="TriggerFlowInfo">
    <vt:lpwstr/>
  </property>
  <property fmtid="{D5CDD505-2E9C-101B-9397-08002B2CF9AE}" pid="6" name="ComplianceAssetId">
    <vt:lpwstr/>
  </property>
  <property fmtid="{D5CDD505-2E9C-101B-9397-08002B2CF9AE}" pid="7" name="_ExtendedDescription">
    <vt:lpwstr/>
  </property>
  <property fmtid="{D5CDD505-2E9C-101B-9397-08002B2CF9AE}" pid="8" name="MediaServiceImageTags">
    <vt:lpwstr/>
  </property>
</Properties>
</file>